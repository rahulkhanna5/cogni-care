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73" r:id="rId5"/>
    <p:sldId id="274" r:id="rId6"/>
    <p:sldId id="258" r:id="rId7"/>
    <p:sldId id="259" r:id="rId8"/>
    <p:sldId id="260" r:id="rId9"/>
    <p:sldId id="261" r:id="rId10"/>
    <p:sldId id="262" r:id="rId11"/>
    <p:sldId id="263" r:id="rId12"/>
    <p:sldId id="264" r:id="rId13"/>
    <p:sldId id="265" r:id="rId14"/>
    <p:sldId id="266" r:id="rId15"/>
    <p:sldId id="267" r:id="rId16"/>
    <p:sldId id="268" r:id="rId17"/>
    <p:sldId id="270" r:id="rId18"/>
    <p:sldId id="269"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7D14EE-74DD-4B3B-AA69-1D7DAFDE471B}" v="8" dt="2026-02-28T17:47:26.2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p:scale>
          <a:sx n="65" d="100"/>
          <a:sy n="65" d="100"/>
        </p:scale>
        <p:origin x="724" y="1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30AE-1793-94B2-09BE-57134389AD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F7F942-4B95-8F40-D46F-349E20302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12D472-F66B-E007-F3E8-33F5AB207817}"/>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5" name="Footer Placeholder 4">
            <a:extLst>
              <a:ext uri="{FF2B5EF4-FFF2-40B4-BE49-F238E27FC236}">
                <a16:creationId xmlns:a16="http://schemas.microsoft.com/office/drawing/2014/main" id="{BE709A97-D7E7-C5D5-D00C-6AF66290D2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8AD2B8-30B0-B378-FC8F-FD21C9C9F9B0}"/>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2772434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B2A3A-F2AA-BB96-1D5D-5DF25A32F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26F779-2416-4634-B73A-69197D7FCA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DCEA7D-A106-8CF7-2B78-7B00DE2B53E7}"/>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5" name="Footer Placeholder 4">
            <a:extLst>
              <a:ext uri="{FF2B5EF4-FFF2-40B4-BE49-F238E27FC236}">
                <a16:creationId xmlns:a16="http://schemas.microsoft.com/office/drawing/2014/main" id="{38E3C61D-37E8-56A7-36D3-D7B021FA7D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D7960F-7563-50C4-0530-5B42CC3A182E}"/>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357858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B5A1-69E9-194A-09A7-AD1CF74635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AF1898-4409-134E-B05D-6CD4D9B488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3298F1-9EEC-DC38-FC0E-D33C1E1C9FCA}"/>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5" name="Footer Placeholder 4">
            <a:extLst>
              <a:ext uri="{FF2B5EF4-FFF2-40B4-BE49-F238E27FC236}">
                <a16:creationId xmlns:a16="http://schemas.microsoft.com/office/drawing/2014/main" id="{F42EBC7F-B867-D65E-0A47-4BBEA58271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AD4BA4-C0F8-84F5-505F-3BD6DD9FB2C0}"/>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2964479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EEBEC-266A-4C3F-2F89-8A6F201E1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417812-6A42-DC87-CE54-6847627094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83CFE1-1D17-D46B-0E09-1074AFB38E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486C75-6998-DFAF-87F8-E5DCAE21CC4E}"/>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6" name="Footer Placeholder 5">
            <a:extLst>
              <a:ext uri="{FF2B5EF4-FFF2-40B4-BE49-F238E27FC236}">
                <a16:creationId xmlns:a16="http://schemas.microsoft.com/office/drawing/2014/main" id="{3D7BDFDC-6260-6307-9F4A-3160C2F794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92831F-FE16-F53E-392A-0E06B4C5333E}"/>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178622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19E78-BA64-81F7-DD1E-FADE9B40C1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695CB1-239D-239E-3027-F27BFF6ADF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EC03E-6828-E7A1-2890-9DE5CCA822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4360C4-2D20-81D2-7813-099A267EB9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3496CB-8D05-000C-C7AF-D760921CC4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CA841C-8721-C668-32B6-7A626A342F98}"/>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8" name="Footer Placeholder 7">
            <a:extLst>
              <a:ext uri="{FF2B5EF4-FFF2-40B4-BE49-F238E27FC236}">
                <a16:creationId xmlns:a16="http://schemas.microsoft.com/office/drawing/2014/main" id="{B8D2B4E8-8D59-2658-D07B-28AD19B884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A48C6B-33AD-600D-619B-8261F64310C0}"/>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3827789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FB625-20A7-3789-8B84-C5BB4B7060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85E4AB3-C0CE-3FFD-99CF-9B801C670C9A}"/>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4" name="Footer Placeholder 3">
            <a:extLst>
              <a:ext uri="{FF2B5EF4-FFF2-40B4-BE49-F238E27FC236}">
                <a16:creationId xmlns:a16="http://schemas.microsoft.com/office/drawing/2014/main" id="{6ACAC9BF-7E2B-F18C-019E-35C3F160C9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339ABC-D2EB-DE91-C667-F0B32DACF3FA}"/>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1582890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210DC9-6463-2949-B6B2-A685DD2B92AA}"/>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3" name="Footer Placeholder 2">
            <a:extLst>
              <a:ext uri="{FF2B5EF4-FFF2-40B4-BE49-F238E27FC236}">
                <a16:creationId xmlns:a16="http://schemas.microsoft.com/office/drawing/2014/main" id="{E36C3BE2-D6C2-ED8F-0B27-1C0DE93D1C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974B4B-F01C-13F6-2C09-AFE2D3176041}"/>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307706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CD45-5D52-EAE9-DD58-9237A2719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0643BD-86BB-96F7-7979-60015D2771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22DB2E-CD97-CB9A-EC93-617ECD52B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89E08-CCBE-582D-38BA-53CE22411EC2}"/>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6" name="Footer Placeholder 5">
            <a:extLst>
              <a:ext uri="{FF2B5EF4-FFF2-40B4-BE49-F238E27FC236}">
                <a16:creationId xmlns:a16="http://schemas.microsoft.com/office/drawing/2014/main" id="{C882F886-9746-CE0C-A5A3-F245901ED3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87BE37-6BDF-89B4-F106-058C63B22988}"/>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2306081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5257-94EF-7865-111B-F9F4D42DF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E6A5A1-CD79-BA96-1787-AEAF2AED06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ECC13D-EECD-5769-E4DD-7DD90E0665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DA3260-D4A6-C987-D94B-8E5DE039986B}"/>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6" name="Footer Placeholder 5">
            <a:extLst>
              <a:ext uri="{FF2B5EF4-FFF2-40B4-BE49-F238E27FC236}">
                <a16:creationId xmlns:a16="http://schemas.microsoft.com/office/drawing/2014/main" id="{FF259138-31AC-BD98-FEE3-F2EA8FA2A2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D634BE-4EB2-62C2-0529-1B862826CB78}"/>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539636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4DD5-347A-6483-B8D0-74AD666328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9892AF-A71F-C8A8-EA5C-3AFBCB7BB7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79CCE8-DDE9-4164-5A96-D2F9B5109125}"/>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5" name="Footer Placeholder 4">
            <a:extLst>
              <a:ext uri="{FF2B5EF4-FFF2-40B4-BE49-F238E27FC236}">
                <a16:creationId xmlns:a16="http://schemas.microsoft.com/office/drawing/2014/main" id="{21716CE7-1976-EC0F-9B4E-3315F2E39D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E2626F-F5C7-B444-6A3C-CE1BAE7A324D}"/>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3756557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4DECEA-D389-F366-73AA-2CF25299BF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D621B0-D969-6305-94C0-B5022A5914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074A63-CA84-806F-38A5-18F47F46419D}"/>
              </a:ext>
            </a:extLst>
          </p:cNvPr>
          <p:cNvSpPr>
            <a:spLocks noGrp="1"/>
          </p:cNvSpPr>
          <p:nvPr>
            <p:ph type="dt" sz="half" idx="10"/>
          </p:nvPr>
        </p:nvSpPr>
        <p:spPr/>
        <p:txBody>
          <a:bodyPr/>
          <a:lstStyle/>
          <a:p>
            <a:fld id="{AF8F4B4E-EAA1-43B7-9F85-B4B02812EEC3}" type="datetimeFigureOut">
              <a:rPr lang="en-IN" smtClean="0"/>
              <a:t>28-02-2026</a:t>
            </a:fld>
            <a:endParaRPr lang="en-IN"/>
          </a:p>
        </p:txBody>
      </p:sp>
      <p:sp>
        <p:nvSpPr>
          <p:cNvPr id="5" name="Footer Placeholder 4">
            <a:extLst>
              <a:ext uri="{FF2B5EF4-FFF2-40B4-BE49-F238E27FC236}">
                <a16:creationId xmlns:a16="http://schemas.microsoft.com/office/drawing/2014/main" id="{0BEED6D8-498C-BCD3-04B6-A238961CC3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CC9E20-55A6-FB69-B327-3E732B3D2BE2}"/>
              </a:ext>
            </a:extLst>
          </p:cNvPr>
          <p:cNvSpPr>
            <a:spLocks noGrp="1"/>
          </p:cNvSpPr>
          <p:nvPr>
            <p:ph type="sldNum" sz="quarter" idx="12"/>
          </p:nvPr>
        </p:nvSpPr>
        <p:spPr/>
        <p:txBody>
          <a:bodyPr/>
          <a:lstStyle/>
          <a:p>
            <a:fld id="{0FB45692-F03B-4FE6-B796-D4B4E44E9A06}" type="slidenum">
              <a:rPr lang="en-IN" smtClean="0"/>
              <a:t>‹#›</a:t>
            </a:fld>
            <a:endParaRPr lang="en-IN"/>
          </a:p>
        </p:txBody>
      </p:sp>
    </p:spTree>
    <p:extLst>
      <p:ext uri="{BB962C8B-B14F-4D97-AF65-F5344CB8AC3E}">
        <p14:creationId xmlns:p14="http://schemas.microsoft.com/office/powerpoint/2010/main" val="61277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92BCB2-5B2C-131A-9A42-BB230E4B60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CDB5AD-D958-A90F-67BA-D0966A9D14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90A074-8663-BDD2-7D87-03FC412D2E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F4B4E-EAA1-43B7-9F85-B4B02812EEC3}" type="datetimeFigureOut">
              <a:rPr lang="en-IN" smtClean="0"/>
              <a:t>28-02-2026</a:t>
            </a:fld>
            <a:endParaRPr lang="en-IN"/>
          </a:p>
        </p:txBody>
      </p:sp>
      <p:sp>
        <p:nvSpPr>
          <p:cNvPr id="5" name="Footer Placeholder 4">
            <a:extLst>
              <a:ext uri="{FF2B5EF4-FFF2-40B4-BE49-F238E27FC236}">
                <a16:creationId xmlns:a16="http://schemas.microsoft.com/office/drawing/2014/main" id="{77A4ECE2-69F1-7255-F8A0-9DA28690B6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50E943-48B7-CE81-0B48-63C8DF6EF1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45692-F03B-4FE6-B796-D4B4E44E9A06}" type="slidenum">
              <a:rPr lang="en-IN" smtClean="0"/>
              <a:t>‹#›</a:t>
            </a:fld>
            <a:endParaRPr lang="en-IN"/>
          </a:p>
        </p:txBody>
      </p:sp>
    </p:spTree>
    <p:extLst>
      <p:ext uri="{BB962C8B-B14F-4D97-AF65-F5344CB8AC3E}">
        <p14:creationId xmlns:p14="http://schemas.microsoft.com/office/powerpoint/2010/main" val="2593175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pmc.ncbi.nlm.nih.gov/articles/PMC10691300/" TargetMode="External"/><Relationship Id="rId2" Type="http://schemas.openxmlformats.org/officeDocument/2006/relationships/hyperlink" Target="https://www.frontiersin.org/journals/psychology/articles/10.3389/fpsyg.2022.1018601/full" TargetMode="External"/><Relationship Id="rId1" Type="http://schemas.openxmlformats.org/officeDocument/2006/relationships/slideLayout" Target="../slideLayouts/slideLayout2.xml"/><Relationship Id="rId6" Type="http://schemas.openxmlformats.org/officeDocument/2006/relationships/hyperlink" Target="https://pubmed.ncbi.nlm.nih.gov/35431905/" TargetMode="External"/><Relationship Id="rId5" Type="http://schemas.openxmlformats.org/officeDocument/2006/relationships/hyperlink" Target="https://pubmed.ncbi.nlm.nih.gov/38274539/" TargetMode="External"/><Relationship Id="rId4" Type="http://schemas.openxmlformats.org/officeDocument/2006/relationships/hyperlink" Target="https://www.frontiersin.org/journals/aging-neuroscience/articles/10.3389/fnagi.2022.859715/ful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2045-C951-7D79-94D3-5872532ED288}"/>
              </a:ext>
            </a:extLst>
          </p:cNvPr>
          <p:cNvSpPr>
            <a:spLocks noGrp="1"/>
          </p:cNvSpPr>
          <p:nvPr>
            <p:ph type="ctrTitle"/>
          </p:nvPr>
        </p:nvSpPr>
        <p:spPr>
          <a:xfrm>
            <a:off x="1437372" y="2235200"/>
            <a:ext cx="9144000" cy="2387600"/>
          </a:xfrm>
        </p:spPr>
        <p:txBody>
          <a:bodyPr>
            <a:normAutofit fontScale="90000"/>
          </a:bodyPr>
          <a:lstStyle/>
          <a:p>
            <a:r>
              <a:rPr lang="en-US" dirty="0">
                <a:latin typeface="Times New Roman" panose="02020603050405020304" pitchFamily="18" charset="0"/>
                <a:cs typeface="Times New Roman" panose="02020603050405020304" pitchFamily="18" charset="0"/>
              </a:rPr>
              <a:t>EFFECT OF APP-BASED GAMES IN IMPROVING COGNITION IN OLDAGE HAVING MILD COGNITIVE IMPAIRMENT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244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560C0-649E-03EF-3342-E54199C5D331}"/>
              </a:ext>
            </a:extLst>
          </p:cNvPr>
          <p:cNvSpPr>
            <a:spLocks noGrp="1"/>
          </p:cNvSpPr>
          <p:nvPr>
            <p:ph type="title"/>
          </p:nvPr>
        </p:nvSpPr>
        <p:spPr>
          <a:xfrm>
            <a:off x="838200" y="365125"/>
            <a:ext cx="10515600" cy="723011"/>
          </a:xfrm>
        </p:spPr>
        <p:txBody>
          <a:bodyPr/>
          <a:lstStyle/>
          <a:p>
            <a:r>
              <a:rPr lang="en-US" b="1" dirty="0">
                <a:latin typeface="Times New Roman" panose="02020603050405020304" pitchFamily="18" charset="0"/>
                <a:cs typeface="Times New Roman" panose="02020603050405020304" pitchFamily="18" charset="0"/>
              </a:rPr>
              <a:t>INTRODUCTION </a:t>
            </a:r>
            <a:endParaRPr lang="en-IN" b="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E3890B47-62FE-AFFB-DCC4-93DEEFA33EE7}"/>
              </a:ext>
            </a:extLst>
          </p:cNvPr>
          <p:cNvSpPr>
            <a:spLocks noGrp="1"/>
          </p:cNvSpPr>
          <p:nvPr>
            <p:ph idx="1"/>
          </p:nvPr>
        </p:nvSpPr>
        <p:spPr>
          <a:xfrm>
            <a:off x="838200" y="1362456"/>
            <a:ext cx="10515600" cy="4814507"/>
          </a:xfrm>
        </p:spPr>
        <p:txBody>
          <a:bodyPr>
            <a:normAutofit fontScale="92500" lnSpcReduction="10000"/>
          </a:bodyPr>
          <a:lstStyle/>
          <a:p>
            <a:pPr marL="0" indent="0">
              <a:buNone/>
            </a:pPr>
            <a:r>
              <a:rPr lang="en-US" dirty="0"/>
              <a:t>Mild Cognitive Impairment (MCI) is characterized by noticeable decline in one or more cognitive domains (such as memory, attention, language, or executive function) that is greater than expected for age  but does not significantly interfere with independence in daily activities. Individuals with MCI are at an increased risk of progressing to dementia, including conditions like Alzheimer's disease.</a:t>
            </a:r>
          </a:p>
          <a:p>
            <a:pPr marL="0" indent="0">
              <a:buNone/>
            </a:pPr>
            <a:r>
              <a:rPr lang="en-US" dirty="0"/>
              <a:t> Organized mental exercises intended to improve particular cognitive abilities including memory, focus, problem-solving, and processing speed are referred to as cognitive exercises. Research indicates that neuroplasticity, or the brain's capacity to rearrange and create new neural connections, is enhanced by frequent cognitive engagement. Interventions involving cognitive training have been demonstrated to increase functional independence, improve cognitive performance, and possibly decrease the progression of MCI to dementia</a:t>
            </a:r>
            <a:endParaRPr lang="en-IN" dirty="0"/>
          </a:p>
        </p:txBody>
      </p:sp>
    </p:spTree>
    <p:extLst>
      <p:ext uri="{BB962C8B-B14F-4D97-AF65-F5344CB8AC3E}">
        <p14:creationId xmlns:p14="http://schemas.microsoft.com/office/powerpoint/2010/main" val="573497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BBA912F-1509-0C11-2AD4-DCE840D17390}"/>
              </a:ext>
            </a:extLst>
          </p:cNvPr>
          <p:cNvSpPr>
            <a:spLocks noGrp="1"/>
          </p:cNvSpPr>
          <p:nvPr>
            <p:ph type="subTitle" idx="1"/>
          </p:nvPr>
        </p:nvSpPr>
        <p:spPr>
          <a:xfrm>
            <a:off x="539015" y="308008"/>
            <a:ext cx="11203806" cy="5909912"/>
          </a:xfrm>
        </p:spPr>
        <p:txBody>
          <a:bodyPr/>
          <a:lstStyle/>
          <a:p>
            <a:r>
              <a:rPr lang="en-US" b="1" dirty="0">
                <a:latin typeface="Times New Roman" panose="02020603050405020304" pitchFamily="18" charset="0"/>
                <a:cs typeface="Times New Roman" panose="02020603050405020304" pitchFamily="18" charset="0"/>
              </a:rPr>
              <a:t>ATTENTION AND CONCENTRATION</a:t>
            </a:r>
          </a:p>
          <a:p>
            <a:r>
              <a:rPr lang="en-US" dirty="0">
                <a:latin typeface="Times New Roman" panose="02020603050405020304" pitchFamily="18" charset="0"/>
                <a:cs typeface="Times New Roman" panose="02020603050405020304" pitchFamily="18" charset="0"/>
              </a:rPr>
              <a:t>Person has:-</a:t>
            </a:r>
          </a:p>
          <a:p>
            <a:r>
              <a:rPr lang="en-US" dirty="0">
                <a:latin typeface="Times New Roman" panose="02020603050405020304" pitchFamily="18" charset="0"/>
                <a:cs typeface="Times New Roman" panose="02020603050405020304" pitchFamily="18" charset="0"/>
              </a:rPr>
              <a:t>- Difficulty focusing for long time</a:t>
            </a:r>
          </a:p>
          <a:p>
            <a:r>
              <a:rPr lang="en-US" dirty="0">
                <a:latin typeface="Times New Roman" panose="02020603050405020304" pitchFamily="18" charset="0"/>
                <a:cs typeface="Times New Roman" panose="02020603050405020304" pitchFamily="18" charset="0"/>
              </a:rPr>
              <a:t>- Easily distracted</a:t>
            </a:r>
          </a:p>
          <a:p>
            <a:pPr marL="342900" indent="-342900">
              <a:buFontTx/>
              <a:buChar char="-"/>
            </a:pPr>
            <a:r>
              <a:rPr lang="en-US" dirty="0">
                <a:latin typeface="Times New Roman" panose="02020603050405020304" pitchFamily="18" charset="0"/>
                <a:cs typeface="Times New Roman" panose="02020603050405020304" pitchFamily="18" charset="0"/>
              </a:rPr>
              <a:t>Trouble handling multiple tasks </a:t>
            </a:r>
          </a:p>
          <a:p>
            <a:r>
              <a:rPr lang="en-US" dirty="0">
                <a:latin typeface="Times New Roman" panose="02020603050405020304" pitchFamily="18" charset="0"/>
                <a:cs typeface="Times New Roman" panose="02020603050405020304" pitchFamily="18" charset="0"/>
              </a:rPr>
              <a:t>BECAUSE:-</a:t>
            </a:r>
          </a:p>
          <a:p>
            <a:r>
              <a:rPr lang="en-US" dirty="0">
                <a:latin typeface="Times New Roman" panose="02020603050405020304" pitchFamily="18" charset="0"/>
                <a:cs typeface="Times New Roman" panose="02020603050405020304" pitchFamily="18" charset="0"/>
              </a:rPr>
              <a:t>The front part of the brain (which controls focus and planning) becomes slightly less efficient. The brain also processes information more slowly.</a:t>
            </a:r>
          </a:p>
          <a:p>
            <a:r>
              <a:rPr lang="en-IN" b="1" dirty="0">
                <a:latin typeface="Times New Roman" panose="02020603050405020304" pitchFamily="18" charset="0"/>
                <a:cs typeface="Times New Roman" panose="02020603050405020304" pitchFamily="18" charset="0"/>
              </a:rPr>
              <a:t>MEMORY</a:t>
            </a:r>
          </a:p>
          <a:p>
            <a:r>
              <a:rPr lang="en-IN" dirty="0">
                <a:latin typeface="Times New Roman" panose="02020603050405020304" pitchFamily="18" charset="0"/>
                <a:cs typeface="Times New Roman" panose="02020603050405020304" pitchFamily="18" charset="0"/>
              </a:rPr>
              <a:t>Person starts:-</a:t>
            </a:r>
          </a:p>
          <a:p>
            <a:r>
              <a:rPr lang="en-US" dirty="0">
                <a:latin typeface="Times New Roman" panose="02020603050405020304" pitchFamily="18" charset="0"/>
                <a:cs typeface="Times New Roman" panose="02020603050405020304" pitchFamily="18" charset="0"/>
              </a:rPr>
              <a:t>Forgetting recent conversations </a:t>
            </a:r>
          </a:p>
          <a:p>
            <a:r>
              <a:rPr lang="en-US" dirty="0">
                <a:latin typeface="Times New Roman" panose="02020603050405020304" pitchFamily="18" charset="0"/>
                <a:cs typeface="Times New Roman" panose="02020603050405020304" pitchFamily="18" charset="0"/>
              </a:rPr>
              <a:t>Repeating the same questions </a:t>
            </a:r>
          </a:p>
          <a:p>
            <a:r>
              <a:rPr lang="en-US" dirty="0">
                <a:latin typeface="Times New Roman" panose="02020603050405020304" pitchFamily="18" charset="0"/>
                <a:cs typeface="Times New Roman" panose="02020603050405020304" pitchFamily="18" charset="0"/>
              </a:rPr>
              <a:t>Misplacing things often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22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EC95EF-AC9C-5738-6FA1-C595806D8C8F}"/>
              </a:ext>
            </a:extLst>
          </p:cNvPr>
          <p:cNvSpPr>
            <a:spLocks noGrp="1"/>
          </p:cNvSpPr>
          <p:nvPr>
            <p:ph idx="1"/>
          </p:nvPr>
        </p:nvSpPr>
        <p:spPr>
          <a:xfrm>
            <a:off x="838200" y="288758"/>
            <a:ext cx="10515600" cy="5888205"/>
          </a:xfrm>
        </p:spPr>
        <p:txBody>
          <a:bodyPr/>
          <a:lstStyle/>
          <a:p>
            <a:pPr marL="0" indent="0">
              <a:buNone/>
            </a:pPr>
            <a:r>
              <a:rPr lang="en-US" dirty="0">
                <a:latin typeface="Times New Roman" panose="02020603050405020304" pitchFamily="18" charset="0"/>
                <a:cs typeface="Times New Roman" panose="02020603050405020304" pitchFamily="18" charset="0"/>
              </a:rPr>
              <a:t>BECAUSE:-</a:t>
            </a:r>
          </a:p>
          <a:p>
            <a:pPr marL="0" indent="0">
              <a:buNone/>
            </a:pPr>
            <a:r>
              <a:rPr lang="en-US" dirty="0">
                <a:latin typeface="Times New Roman" panose="02020603050405020304" pitchFamily="18" charset="0"/>
                <a:cs typeface="Times New Roman" panose="02020603050405020304" pitchFamily="18" charset="0"/>
              </a:rPr>
              <a:t>There is a small part of the brain called the hippocampus that helps store new memories. In MCI ,this  area becomes slightly smaller. Brain cells in that region don’t communicate as well. So new information is not stored properly. </a:t>
            </a:r>
          </a:p>
          <a:p>
            <a:pPr marL="0" indent="0">
              <a:buNone/>
            </a:pPr>
            <a:r>
              <a:rPr lang="en-US" b="1" dirty="0">
                <a:latin typeface="Times New Roman" panose="02020603050405020304" pitchFamily="18" charset="0"/>
                <a:cs typeface="Times New Roman" panose="02020603050405020304" pitchFamily="18" charset="0"/>
              </a:rPr>
              <a:t>PROCESSING SPEED</a:t>
            </a:r>
          </a:p>
          <a:p>
            <a:pPr marL="0" indent="0">
              <a:buNone/>
            </a:pPr>
            <a:r>
              <a:rPr lang="en-US" dirty="0">
                <a:latin typeface="Times New Roman" panose="02020603050405020304" pitchFamily="18" charset="0"/>
                <a:cs typeface="Times New Roman" panose="02020603050405020304" pitchFamily="18" charset="0"/>
              </a:rPr>
              <a:t> Patient starts:-</a:t>
            </a:r>
          </a:p>
          <a:p>
            <a:pPr marL="0" indent="0">
              <a:buNone/>
            </a:pPr>
            <a:r>
              <a:rPr lang="en-US" dirty="0">
                <a:latin typeface="Times New Roman" panose="02020603050405020304" pitchFamily="18" charset="0"/>
                <a:cs typeface="Times New Roman" panose="02020603050405020304" pitchFamily="18" charset="0"/>
              </a:rPr>
              <a:t>Responding more slowly in conversations.</a:t>
            </a:r>
          </a:p>
          <a:p>
            <a:pPr marL="0" indent="0">
              <a:buNone/>
            </a:pPr>
            <a:r>
              <a:rPr lang="en-US" dirty="0">
                <a:latin typeface="Times New Roman" panose="02020603050405020304" pitchFamily="18" charset="0"/>
                <a:cs typeface="Times New Roman" panose="02020603050405020304" pitchFamily="18" charset="0"/>
              </a:rPr>
              <a:t> Taking longer to understand new information.</a:t>
            </a:r>
          </a:p>
          <a:p>
            <a:pPr marL="0" indent="0">
              <a:buNone/>
            </a:pPr>
            <a:r>
              <a:rPr lang="en-US" dirty="0">
                <a:latin typeface="Times New Roman" panose="02020603050405020304" pitchFamily="18" charset="0"/>
                <a:cs typeface="Times New Roman" panose="02020603050405020304" pitchFamily="18" charset="0"/>
              </a:rPr>
              <a:t>BECAUSE:-</a:t>
            </a:r>
          </a:p>
          <a:p>
            <a:pPr marL="0" indent="0">
              <a:buNone/>
            </a:pPr>
            <a:r>
              <a:rPr lang="en-US" dirty="0">
                <a:latin typeface="Times New Roman" panose="02020603050405020304" pitchFamily="18" charset="0"/>
                <a:cs typeface="Times New Roman" panose="02020603050405020304" pitchFamily="18" charset="0"/>
              </a:rPr>
              <a:t>The protective covering around nerves (called myelin) becomes thinner. This slows down signal transmission — like slow internet speed.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9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B4C85766-911B-CC15-37FF-EA1F94F51E20}"/>
              </a:ext>
            </a:extLst>
          </p:cNvPr>
          <p:cNvSpPr>
            <a:spLocks noGrp="1"/>
          </p:cNvSpPr>
          <p:nvPr>
            <p:ph type="subTitle" idx="1"/>
          </p:nvPr>
        </p:nvSpPr>
        <p:spPr>
          <a:xfrm>
            <a:off x="442453" y="412955"/>
            <a:ext cx="11425082" cy="6086168"/>
          </a:xfrm>
        </p:spPr>
        <p:txBody>
          <a:bodyPr/>
          <a:lstStyle/>
          <a:p>
            <a:r>
              <a:rPr lang="en-US" b="1" dirty="0">
                <a:latin typeface="Times New Roman" panose="02020603050405020304" pitchFamily="18" charset="0"/>
                <a:cs typeface="Times New Roman" panose="02020603050405020304" pitchFamily="18" charset="0"/>
              </a:rPr>
              <a:t>NEUROPLASTICITY</a:t>
            </a:r>
          </a:p>
          <a:p>
            <a:r>
              <a:rPr lang="en-US" dirty="0">
                <a:latin typeface="Times New Roman" panose="02020603050405020304" pitchFamily="18" charset="0"/>
                <a:cs typeface="Times New Roman" panose="02020603050405020304" pitchFamily="18" charset="0"/>
              </a:rPr>
              <a:t>Neuroplasticity means the brain’s ability to form new connections .</a:t>
            </a:r>
          </a:p>
          <a:p>
            <a:r>
              <a:rPr lang="en-US" dirty="0">
                <a:latin typeface="Times New Roman" panose="02020603050405020304" pitchFamily="18" charset="0"/>
                <a:cs typeface="Times New Roman" panose="02020603050405020304" pitchFamily="18" charset="0"/>
              </a:rPr>
              <a:t>Strengthen weak connections. </a:t>
            </a:r>
          </a:p>
          <a:p>
            <a:r>
              <a:rPr lang="en-US" dirty="0">
                <a:latin typeface="Times New Roman" panose="02020603050405020304" pitchFamily="18" charset="0"/>
                <a:cs typeface="Times New Roman" panose="02020603050405020304" pitchFamily="18" charset="0"/>
              </a:rPr>
              <a:t>Reorganize itself after damage.</a:t>
            </a:r>
          </a:p>
          <a:p>
            <a:r>
              <a:rPr lang="en-US" dirty="0">
                <a:latin typeface="Times New Roman" panose="02020603050405020304" pitchFamily="18" charset="0"/>
                <a:cs typeface="Times New Roman" panose="02020603050405020304" pitchFamily="18" charset="0"/>
              </a:rPr>
              <a:t> Even in MCI, brain cells are still alive — they are just not communicating efficiently. So the goal of cognitive games is to reactivate and strengthen those connections.</a:t>
            </a:r>
          </a:p>
          <a:p>
            <a:r>
              <a:rPr lang="en-US" dirty="0">
                <a:latin typeface="Times New Roman" panose="02020603050405020304" pitchFamily="18" charset="0"/>
                <a:cs typeface="Times New Roman" panose="02020603050405020304" pitchFamily="18" charset="0"/>
              </a:rPr>
              <a:t>THESE COGNITIVE GAMES HELP TO-:</a:t>
            </a:r>
          </a:p>
          <a:p>
            <a:r>
              <a:rPr lang="en-US" dirty="0">
                <a:latin typeface="Times New Roman" panose="02020603050405020304" pitchFamily="18" charset="0"/>
                <a:cs typeface="Times New Roman" panose="02020603050405020304" pitchFamily="18" charset="0"/>
              </a:rPr>
              <a:t>Improve communication between brain regions.</a:t>
            </a:r>
          </a:p>
          <a:p>
            <a:r>
              <a:rPr lang="en-US" dirty="0">
                <a:latin typeface="Times New Roman" panose="02020603050405020304" pitchFamily="18" charset="0"/>
                <a:cs typeface="Times New Roman" panose="02020603050405020304" pitchFamily="18" charset="0"/>
              </a:rPr>
              <a:t>Release neurotransmitters like acetylcholine and dopamine that support neural adaptability.</a:t>
            </a:r>
          </a:p>
          <a:p>
            <a:r>
              <a:rPr lang="en-US" dirty="0">
                <a:latin typeface="Times New Roman" panose="02020603050405020304" pitchFamily="18" charset="0"/>
                <a:cs typeface="Times New Roman" panose="02020603050405020304" pitchFamily="18" charset="0"/>
              </a:rPr>
              <a:t>Stimulate frontal lobe ,which helps in planning, decision making and attention control.</a:t>
            </a:r>
          </a:p>
          <a:p>
            <a:r>
              <a:rPr lang="en-US" dirty="0">
                <a:latin typeface="Times New Roman" panose="02020603050405020304" pitchFamily="18" charset="0"/>
                <a:cs typeface="Times New Roman" panose="02020603050405020304" pitchFamily="18" charset="0"/>
              </a:rPr>
              <a:t>Helps maintain memory circuit.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751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D95F4-D9DC-B94E-D3EA-AE1A9E8ACDC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 ARTICLES</a:t>
            </a:r>
            <a:endParaRPr lang="en-IN"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64E3B1E-1AF6-3072-0A76-D1BFDE8ADF84}"/>
              </a:ext>
            </a:extLst>
          </p:cNvPr>
          <p:cNvSpPr>
            <a:spLocks noGrp="1"/>
          </p:cNvSpPr>
          <p:nvPr>
            <p:ph idx="1"/>
          </p:nvPr>
        </p:nvSpPr>
        <p:spPr/>
        <p:txBody>
          <a:bodyPr>
            <a:normAutofit fontScale="70000" lnSpcReduction="20000"/>
          </a:bodyPr>
          <a:lstStyle/>
          <a:p>
            <a:pPr marL="0" indent="0">
              <a:buNone/>
            </a:pPr>
            <a:r>
              <a:rPr lang="en-IN" dirty="0">
                <a:hlinkClick r:id="rId2"/>
              </a:rPr>
              <a:t>https://www.frontiersin.org/journals/psychology/articles/10.3389/fpsyg.2022.1018601/full</a:t>
            </a:r>
            <a:endParaRPr lang="en-IN" dirty="0"/>
          </a:p>
          <a:p>
            <a:pPr marL="0" indent="0">
              <a:buNone/>
            </a:pPr>
            <a:endParaRPr lang="en-IN" dirty="0"/>
          </a:p>
          <a:p>
            <a:pPr marL="0" indent="0">
              <a:buNone/>
            </a:pPr>
            <a:r>
              <a:rPr lang="en-IN" dirty="0">
                <a:hlinkClick r:id="rId3"/>
              </a:rPr>
              <a:t>https://pmc.ncbi.nlm.nih.gov/articles/PMC10691300/</a:t>
            </a:r>
            <a:endParaRPr lang="en-IN" dirty="0"/>
          </a:p>
          <a:p>
            <a:pPr marL="0" indent="0">
              <a:buNone/>
            </a:pPr>
            <a:endParaRPr lang="en-IN" dirty="0">
              <a:hlinkClick r:id="rId4"/>
            </a:endParaRPr>
          </a:p>
          <a:p>
            <a:pPr marL="0" indent="0">
              <a:buNone/>
            </a:pPr>
            <a:endParaRPr lang="en-IN" dirty="0">
              <a:hlinkClick r:id="rId4"/>
            </a:endParaRPr>
          </a:p>
          <a:p>
            <a:pPr marL="0" indent="0">
              <a:buNone/>
            </a:pPr>
            <a:r>
              <a:rPr lang="en-IN" dirty="0">
                <a:hlinkClick r:id="rId4"/>
              </a:rPr>
              <a:t>https://www.frontiersin.org/journals/</a:t>
            </a:r>
          </a:p>
          <a:p>
            <a:pPr marL="0" indent="0">
              <a:buNone/>
            </a:pPr>
            <a:endParaRPr lang="en-IN" dirty="0">
              <a:hlinkClick r:id="rId4"/>
            </a:endParaRPr>
          </a:p>
          <a:p>
            <a:pPr marL="0" indent="0">
              <a:buNone/>
            </a:pPr>
            <a:r>
              <a:rPr lang="en-IN" dirty="0">
                <a:hlinkClick r:id="rId4"/>
              </a:rPr>
              <a:t>aging-neuroscience/articles/10.3389/fnagi.2022.859715/full</a:t>
            </a:r>
            <a:endParaRPr lang="en-IN" dirty="0"/>
          </a:p>
          <a:p>
            <a:pPr marL="0" indent="0">
              <a:buNone/>
            </a:pPr>
            <a:endParaRPr lang="en-IN" dirty="0">
              <a:hlinkClick r:id="rId5"/>
            </a:endParaRPr>
          </a:p>
          <a:p>
            <a:pPr marL="0" indent="0">
              <a:buNone/>
            </a:pPr>
            <a:r>
              <a:rPr lang="en-IN" dirty="0">
                <a:hlinkClick r:id="rId5"/>
              </a:rPr>
              <a:t>https://pubmed.ncbi.nlm.nih.gov/38274539/</a:t>
            </a:r>
            <a:endParaRPr lang="en-IN" dirty="0"/>
          </a:p>
          <a:p>
            <a:pPr marL="0" indent="0">
              <a:buNone/>
            </a:pPr>
            <a:endParaRPr lang="en-IN" dirty="0">
              <a:hlinkClick r:id="rId6"/>
            </a:endParaRPr>
          </a:p>
          <a:p>
            <a:pPr marL="0" indent="0">
              <a:buNone/>
            </a:pPr>
            <a:r>
              <a:rPr lang="en-IN" dirty="0">
                <a:hlinkClick r:id="rId6"/>
              </a:rPr>
              <a:t>https://pubmed.ncbi.nlm.nih.gov/35431905/</a:t>
            </a:r>
            <a:endParaRPr lang="en-IN" dirty="0"/>
          </a:p>
          <a:p>
            <a:pPr marL="0" indent="0">
              <a:buNone/>
            </a:pPr>
            <a:endParaRPr lang="en-IN" dirty="0"/>
          </a:p>
        </p:txBody>
      </p:sp>
    </p:spTree>
    <p:extLst>
      <p:ext uri="{BB962C8B-B14F-4D97-AF65-F5344CB8AC3E}">
        <p14:creationId xmlns:p14="http://schemas.microsoft.com/office/powerpoint/2010/main" val="773393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C987D-8199-437C-10AE-5320D837166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QUESTIONNARE FOR ASSESSMENT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DD4F1C-24F5-EDF5-8654-49F52E88130F}"/>
              </a:ext>
            </a:extLst>
          </p:cNvPr>
          <p:cNvSpPr>
            <a:spLocks noGrp="1"/>
          </p:cNvSpPr>
          <p:nvPr>
            <p:ph idx="1"/>
          </p:nvPr>
        </p:nvSpPr>
        <p:spPr/>
        <p:txBody>
          <a:bodyPr>
            <a:normAutofit fontScale="85000" lnSpcReduction="20000"/>
          </a:bodyPr>
          <a:lstStyle/>
          <a:p>
            <a:pPr marL="0" indent="0">
              <a:buNone/>
            </a:pPr>
            <a:r>
              <a:rPr lang="en-IN" b="1" u="sng" dirty="0">
                <a:latin typeface="Times New Roman" panose="02020603050405020304" pitchFamily="18" charset="0"/>
                <a:cs typeface="Times New Roman" panose="02020603050405020304" pitchFamily="18" charset="0"/>
              </a:rPr>
              <a:t>Attention &amp; Concentration</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1. I have difficulty maintaining attention on a task for several minutes.</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2. I am easily distracted by sounds or activities around me.</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3. I lose focus while reading or watching television.</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4.I find it difficult to follow conversations, especially in a group.</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5. I need information to be repeated because I miss parts of it.</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endParaRPr lang="en-IN" dirty="0"/>
          </a:p>
        </p:txBody>
      </p:sp>
    </p:spTree>
    <p:extLst>
      <p:ext uri="{BB962C8B-B14F-4D97-AF65-F5344CB8AC3E}">
        <p14:creationId xmlns:p14="http://schemas.microsoft.com/office/powerpoint/2010/main" val="205309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63E04-402B-8E3F-7035-D5D01EE1CF36}"/>
              </a:ext>
            </a:extLst>
          </p:cNvPr>
          <p:cNvSpPr>
            <a:spLocks noGrp="1"/>
          </p:cNvSpPr>
          <p:nvPr>
            <p:ph idx="1"/>
          </p:nvPr>
        </p:nvSpPr>
        <p:spPr>
          <a:xfrm>
            <a:off x="838200" y="411480"/>
            <a:ext cx="10515600" cy="5765483"/>
          </a:xfrm>
        </p:spPr>
        <p:txBody>
          <a:bodyPr>
            <a:normAutofit fontScale="85000" lnSpcReduction="20000"/>
          </a:bodyPr>
          <a:lstStyle/>
          <a:p>
            <a:pPr marL="0" indent="0">
              <a:buNone/>
            </a:pPr>
            <a:r>
              <a:rPr lang="en-IN" b="1" u="sng" dirty="0">
                <a:latin typeface="Times New Roman" panose="02020603050405020304" pitchFamily="18" charset="0"/>
                <a:cs typeface="Times New Roman" panose="02020603050405020304" pitchFamily="18" charset="0"/>
              </a:rPr>
              <a:t>Short-Term Memory</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1. I forget what I was about to do a few moments earlier.</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2.I misplace commonly used objects such as keys, phone, or glasses.</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3.I forget instructions that were given to me recently.</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4. I forget recent conversations or events.</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5. I need reminders for things I was told earlier the same day.</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b="1" u="sng" dirty="0">
                <a:latin typeface="Times New Roman" panose="02020603050405020304" pitchFamily="18" charset="0"/>
                <a:cs typeface="Times New Roman" panose="02020603050405020304" pitchFamily="18" charset="0"/>
              </a:rPr>
              <a:t>Long-Term Memory</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1. I have difficulty recalling events from my past.</a:t>
            </a:r>
          </a:p>
          <a:p>
            <a:pPr marL="0" indent="0">
              <a:buNone/>
            </a:pPr>
            <a:r>
              <a:rPr lang="en-IN" dirty="0">
                <a:latin typeface="Times New Roman" panose="02020603050405020304" pitchFamily="18" charset="0"/>
                <a:cs typeface="Times New Roman" panose="02020603050405020304" pitchFamily="18" charset="0"/>
              </a:rPr>
              <a:t>☐ 0 Never ☐ 1 Rarely ☐ 2 Sometimes ☐ 3 Often ☐ 4 Always</a:t>
            </a:r>
          </a:p>
          <a:p>
            <a:pPr marL="0" indent="0">
              <a:buNone/>
            </a:pPr>
            <a:endParaRPr lang="en-IN" dirty="0"/>
          </a:p>
          <a:p>
            <a:endParaRPr lang="en-IN" dirty="0"/>
          </a:p>
        </p:txBody>
      </p:sp>
    </p:spTree>
    <p:extLst>
      <p:ext uri="{BB962C8B-B14F-4D97-AF65-F5344CB8AC3E}">
        <p14:creationId xmlns:p14="http://schemas.microsoft.com/office/powerpoint/2010/main" val="3802557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BA9302-8F1D-C12F-8632-79520FF8BCAD}"/>
              </a:ext>
            </a:extLst>
          </p:cNvPr>
          <p:cNvSpPr>
            <a:spLocks noGrp="1"/>
          </p:cNvSpPr>
          <p:nvPr>
            <p:ph idx="1"/>
          </p:nvPr>
        </p:nvSpPr>
        <p:spPr>
          <a:xfrm>
            <a:off x="838200" y="310896"/>
            <a:ext cx="10515600" cy="5866067"/>
          </a:xfrm>
        </p:spPr>
        <p:txBody>
          <a:bodyPr>
            <a:normAutofit fontScale="92500" lnSpcReduction="10000"/>
          </a:bodyPr>
          <a:lstStyle/>
          <a:p>
            <a:pPr marL="0" indent="0">
              <a:buNone/>
            </a:pPr>
            <a:r>
              <a:rPr lang="en-IN" sz="2600" dirty="0">
                <a:latin typeface="Times New Roman" panose="02020603050405020304" pitchFamily="18" charset="0"/>
                <a:cs typeface="Times New Roman" panose="02020603050405020304" pitchFamily="18" charset="0"/>
              </a:rPr>
              <a:t>2. I forget the names of people I have known for a long time.</a:t>
            </a:r>
          </a:p>
          <a:p>
            <a:pPr marL="0" indent="0">
              <a:buNone/>
            </a:pPr>
            <a:r>
              <a:rPr lang="en-IN" sz="26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2600" dirty="0">
                <a:latin typeface="Times New Roman" panose="02020603050405020304" pitchFamily="18" charset="0"/>
                <a:cs typeface="Times New Roman" panose="02020603050405020304" pitchFamily="18" charset="0"/>
              </a:rPr>
              <a:t>3. I forget important dates such as birthdays or anniversaries.</a:t>
            </a:r>
          </a:p>
          <a:p>
            <a:pPr marL="0" indent="0">
              <a:buNone/>
            </a:pPr>
            <a:r>
              <a:rPr lang="en-IN" sz="26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2600" dirty="0">
                <a:latin typeface="Times New Roman" panose="02020603050405020304" pitchFamily="18" charset="0"/>
                <a:cs typeface="Times New Roman" panose="02020603050405020304" pitchFamily="18" charset="0"/>
              </a:rPr>
              <a:t>4. I have difficulty remembering information learned long ago.</a:t>
            </a:r>
          </a:p>
          <a:p>
            <a:pPr marL="0" indent="0">
              <a:buNone/>
            </a:pPr>
            <a:r>
              <a:rPr lang="en-IN" sz="26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2600" dirty="0">
                <a:latin typeface="Times New Roman" panose="02020603050405020304" pitchFamily="18" charset="0"/>
                <a:cs typeface="Times New Roman" panose="02020603050405020304" pitchFamily="18" charset="0"/>
              </a:rPr>
              <a:t>5. I find it difficult to clearly recall past experiences.</a:t>
            </a:r>
          </a:p>
          <a:p>
            <a:pPr marL="0" indent="0">
              <a:buNone/>
            </a:pPr>
            <a:r>
              <a:rPr lang="en-IN" sz="26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2600" dirty="0">
                <a:latin typeface="Times New Roman" panose="02020603050405020304" pitchFamily="18" charset="0"/>
                <a:cs typeface="Times New Roman" panose="02020603050405020304" pitchFamily="18" charset="0"/>
              </a:rPr>
              <a:t> </a:t>
            </a:r>
          </a:p>
          <a:p>
            <a:pPr marL="0" indent="0">
              <a:buNone/>
            </a:pPr>
            <a:r>
              <a:rPr lang="en-IN" sz="2600" b="1" u="sng" dirty="0">
                <a:latin typeface="Times New Roman" panose="02020603050405020304" pitchFamily="18" charset="0"/>
                <a:cs typeface="Times New Roman" panose="02020603050405020304" pitchFamily="18" charset="0"/>
              </a:rPr>
              <a:t>Processing Speed</a:t>
            </a:r>
            <a:endParaRPr lang="en-IN" sz="2600" dirty="0">
              <a:latin typeface="Times New Roman" panose="02020603050405020304" pitchFamily="18" charset="0"/>
              <a:cs typeface="Times New Roman" panose="02020603050405020304" pitchFamily="18" charset="0"/>
            </a:endParaRPr>
          </a:p>
          <a:p>
            <a:pPr marL="0" indent="0">
              <a:buNone/>
            </a:pPr>
            <a:r>
              <a:rPr lang="en-IN" sz="2600" dirty="0">
                <a:latin typeface="Times New Roman" panose="02020603050405020304" pitchFamily="18" charset="0"/>
                <a:cs typeface="Times New Roman" panose="02020603050405020304" pitchFamily="18" charset="0"/>
              </a:rPr>
              <a:t>1. I take longer than before to understand instructions.</a:t>
            </a:r>
          </a:p>
          <a:p>
            <a:pPr marL="0" indent="0">
              <a:buNone/>
            </a:pPr>
            <a:r>
              <a:rPr lang="en-IN" sz="26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2600" dirty="0">
                <a:latin typeface="Times New Roman" panose="02020603050405020304" pitchFamily="18" charset="0"/>
                <a:cs typeface="Times New Roman" panose="02020603050405020304" pitchFamily="18" charset="0"/>
              </a:rPr>
              <a:t>2. I need more time to think before responding to questions.</a:t>
            </a:r>
          </a:p>
          <a:p>
            <a:pPr marL="0" indent="0">
              <a:buNone/>
            </a:pPr>
            <a:r>
              <a:rPr lang="en-IN" sz="2600" dirty="0">
                <a:latin typeface="Times New Roman" panose="02020603050405020304" pitchFamily="18" charset="0"/>
                <a:cs typeface="Times New Roman" panose="02020603050405020304" pitchFamily="18" charset="0"/>
              </a:rPr>
              <a:t>☐ 0 Never ☐ 1 Rarely ☐ 2 Sometimes ☐ 3 Often ☐ 4 Always</a:t>
            </a:r>
          </a:p>
          <a:p>
            <a:pPr marL="0" indent="0">
              <a:buNone/>
            </a:pPr>
            <a:endParaRPr lang="en-IN" dirty="0"/>
          </a:p>
          <a:p>
            <a:endParaRPr lang="en-IN" dirty="0"/>
          </a:p>
        </p:txBody>
      </p:sp>
    </p:spTree>
    <p:extLst>
      <p:ext uri="{BB962C8B-B14F-4D97-AF65-F5344CB8AC3E}">
        <p14:creationId xmlns:p14="http://schemas.microsoft.com/office/powerpoint/2010/main" val="5661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080AFB-003E-217A-D4A7-D84B0F54BE32}"/>
              </a:ext>
            </a:extLst>
          </p:cNvPr>
          <p:cNvSpPr>
            <a:spLocks noGrp="1"/>
          </p:cNvSpPr>
          <p:nvPr>
            <p:ph idx="1"/>
          </p:nvPr>
        </p:nvSpPr>
        <p:spPr>
          <a:xfrm>
            <a:off x="838200" y="656948"/>
            <a:ext cx="10515600" cy="5520015"/>
          </a:xfrm>
        </p:spPr>
        <p:txBody>
          <a:bodyPr>
            <a:normAutofit fontScale="70000" lnSpcReduction="20000"/>
          </a:bodyPr>
          <a:lstStyle/>
          <a:p>
            <a:pPr marL="0" indent="0">
              <a:buNone/>
            </a:pPr>
            <a:r>
              <a:rPr lang="en-IN" sz="3100" dirty="0">
                <a:latin typeface="Times New Roman" panose="02020603050405020304" pitchFamily="18" charset="0"/>
                <a:cs typeface="Times New Roman" panose="02020603050405020304" pitchFamily="18" charset="0"/>
              </a:rPr>
              <a:t>3. I feel mentally slower while performing simple tasks.</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3100" dirty="0">
                <a:latin typeface="Times New Roman" panose="02020603050405020304" pitchFamily="18" charset="0"/>
                <a:cs typeface="Times New Roman" panose="02020603050405020304" pitchFamily="18" charset="0"/>
              </a:rPr>
              <a:t>4. I take longer to complete daily activities than I used to.</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3100" dirty="0">
                <a:latin typeface="Times New Roman" panose="02020603050405020304" pitchFamily="18" charset="0"/>
                <a:cs typeface="Times New Roman" panose="02020603050405020304" pitchFamily="18" charset="0"/>
              </a:rPr>
              <a:t>5. I feel that my thinking speed has reduced.</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3100" b="1" u="sng" dirty="0">
                <a:latin typeface="Times New Roman" panose="02020603050405020304" pitchFamily="18" charset="0"/>
                <a:cs typeface="Times New Roman" panose="02020603050405020304" pitchFamily="18" charset="0"/>
              </a:rPr>
              <a:t>Activities of Daily Living (ADL)</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1.I have difficulty managing my personal hygiene (bathing, dressing, grooming).</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3100" dirty="0">
                <a:latin typeface="Times New Roman" panose="02020603050405020304" pitchFamily="18" charset="0"/>
                <a:cs typeface="Times New Roman" panose="02020603050405020304" pitchFamily="18" charset="0"/>
              </a:rPr>
              <a:t>2.I have difficulty managing my medications independently.</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3100" dirty="0">
                <a:latin typeface="Times New Roman" panose="02020603050405020304" pitchFamily="18" charset="0"/>
                <a:cs typeface="Times New Roman" panose="02020603050405020304" pitchFamily="18" charset="0"/>
              </a:rPr>
              <a:t>3.I have difficulty handling money or paying bills.</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3100" dirty="0">
                <a:latin typeface="Times New Roman" panose="02020603050405020304" pitchFamily="18" charset="0"/>
                <a:cs typeface="Times New Roman" panose="02020603050405020304" pitchFamily="18" charset="0"/>
              </a:rPr>
              <a:t>4.I find it difficult to prepare meals independently.</a:t>
            </a:r>
          </a:p>
          <a:p>
            <a:pPr marL="0" indent="0">
              <a:buNone/>
            </a:pPr>
            <a:r>
              <a:rPr lang="en-IN" sz="3100" dirty="0">
                <a:latin typeface="Times New Roman" panose="02020603050405020304" pitchFamily="18" charset="0"/>
                <a:cs typeface="Times New Roman" panose="02020603050405020304" pitchFamily="18" charset="0"/>
              </a:rPr>
              <a:t>☐ 0 Never ☐ 1 Rarely ☐ 2 Sometimes ☐ 3 Often ☐ 4 Always</a:t>
            </a:r>
          </a:p>
          <a:p>
            <a:pPr marL="0" indent="0">
              <a:buNone/>
            </a:pPr>
            <a:endParaRPr lang="en-IN" dirty="0"/>
          </a:p>
          <a:p>
            <a:endParaRPr lang="en-IN" dirty="0"/>
          </a:p>
        </p:txBody>
      </p:sp>
    </p:spTree>
    <p:extLst>
      <p:ext uri="{BB962C8B-B14F-4D97-AF65-F5344CB8AC3E}">
        <p14:creationId xmlns:p14="http://schemas.microsoft.com/office/powerpoint/2010/main" val="411451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66944-178A-9345-12EF-BD2C82DEF75D}"/>
              </a:ext>
            </a:extLst>
          </p:cNvPr>
          <p:cNvSpPr>
            <a:spLocks noGrp="1"/>
          </p:cNvSpPr>
          <p:nvPr>
            <p:ph idx="1"/>
          </p:nvPr>
        </p:nvSpPr>
        <p:spPr>
          <a:xfrm>
            <a:off x="838200" y="1825625"/>
            <a:ext cx="10515600" cy="4351338"/>
          </a:xfrm>
        </p:spPr>
        <p:txBody>
          <a:bodyPr/>
          <a:lstStyle/>
          <a:p>
            <a:pPr marL="0" indent="0">
              <a:buNone/>
            </a:pPr>
            <a:r>
              <a:rPr lang="en-IN" sz="2400" dirty="0">
                <a:latin typeface="Times New Roman" panose="02020603050405020304" pitchFamily="18" charset="0"/>
                <a:cs typeface="Times New Roman" panose="02020603050405020304" pitchFamily="18" charset="0"/>
              </a:rPr>
              <a:t>5.I need help remembering appointments or daily tasks.</a:t>
            </a:r>
          </a:p>
          <a:p>
            <a:pPr marL="0" indent="0">
              <a:buNone/>
            </a:pPr>
            <a:r>
              <a:rPr lang="en-IN" sz="2400" dirty="0">
                <a:latin typeface="Times New Roman" panose="02020603050405020304" pitchFamily="18" charset="0"/>
                <a:cs typeface="Times New Roman" panose="02020603050405020304" pitchFamily="18" charset="0"/>
              </a:rPr>
              <a:t>☐ 0 Never ☐ 1 Rarely ☐ 2 Sometimes ☐ 3 Often ☐ 4 Always</a:t>
            </a:r>
          </a:p>
          <a:p>
            <a:pPr marL="0" indent="0">
              <a:buNone/>
            </a:pPr>
            <a:r>
              <a:rPr lang="en-IN" sz="2400" dirty="0">
                <a:latin typeface="Times New Roman" panose="02020603050405020304" pitchFamily="18" charset="0"/>
                <a:cs typeface="Times New Roman" panose="02020603050405020304" pitchFamily="18" charset="0"/>
              </a:rPr>
              <a:t>6.I find it difficult to manage household activities as I did before.</a:t>
            </a:r>
          </a:p>
          <a:p>
            <a:pPr marL="0" indent="0">
              <a:buNone/>
            </a:pPr>
            <a:r>
              <a:rPr lang="en-IN" sz="2400" dirty="0">
                <a:latin typeface="Times New Roman" panose="02020603050405020304" pitchFamily="18" charset="0"/>
                <a:cs typeface="Times New Roman" panose="02020603050405020304" pitchFamily="18" charset="0"/>
              </a:rPr>
              <a:t>☐ 0 Never ☐ 1 Rarely ☐ 2 Sometimes ☐ 3 Often ☐ 4 Always</a:t>
            </a:r>
          </a:p>
          <a:p>
            <a:endParaRPr lang="en-IN" dirty="0"/>
          </a:p>
          <a:p>
            <a:endParaRPr lang="en-IN" dirty="0"/>
          </a:p>
        </p:txBody>
      </p:sp>
    </p:spTree>
    <p:extLst>
      <p:ext uri="{BB962C8B-B14F-4D97-AF65-F5344CB8AC3E}">
        <p14:creationId xmlns:p14="http://schemas.microsoft.com/office/powerpoint/2010/main" val="3402099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1B2D5-D53E-C6E9-1101-3B49E067C468}"/>
              </a:ext>
            </a:extLst>
          </p:cNvPr>
          <p:cNvSpPr>
            <a:spLocks noGrp="1"/>
          </p:cNvSpPr>
          <p:nvPr>
            <p:ph type="title"/>
          </p:nvPr>
        </p:nvSpPr>
        <p:spPr>
          <a:xfrm>
            <a:off x="2125462" y="2637809"/>
            <a:ext cx="10515600" cy="1325563"/>
          </a:xfrm>
        </p:spPr>
        <p:txBody>
          <a:bodyPr/>
          <a:lstStyle/>
          <a:p>
            <a:r>
              <a:rPr lang="en-US" b="1" dirty="0">
                <a:latin typeface="Times New Roman" panose="02020603050405020304" pitchFamily="18" charset="0"/>
                <a:cs typeface="Times New Roman" panose="02020603050405020304" pitchFamily="18" charset="0"/>
              </a:rPr>
              <a:t>GAMES BLUEPRINT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70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95C8B-FB2A-9F70-9C23-7DBFC886E20B}"/>
              </a:ext>
            </a:extLst>
          </p:cNvPr>
          <p:cNvSpPr>
            <a:spLocks noGrp="1"/>
          </p:cNvSpPr>
          <p:nvPr>
            <p:ph idx="1"/>
          </p:nvPr>
        </p:nvSpPr>
        <p:spPr>
          <a:xfrm>
            <a:off x="545236" y="856648"/>
            <a:ext cx="10340937" cy="5351647"/>
          </a:xfrm>
        </p:spPr>
        <p:txBody>
          <a:bodyPr>
            <a:normAutofit fontScale="25000" lnSpcReduction="20000"/>
          </a:bodyPr>
          <a:lstStyle/>
          <a:p>
            <a:pPr marL="0" indent="0">
              <a:buNone/>
            </a:pPr>
            <a:r>
              <a:rPr lang="en-IN" sz="7200" dirty="0">
                <a:latin typeface="Times New Roman" panose="02020603050405020304" pitchFamily="18" charset="0"/>
                <a:cs typeface="Times New Roman" panose="02020603050405020304" pitchFamily="18" charset="0"/>
              </a:rPr>
              <a:t>1.</a:t>
            </a:r>
            <a:r>
              <a:rPr lang="en-IN" sz="7200" b="1" dirty="0">
                <a:latin typeface="Times New Roman" panose="02020603050405020304" pitchFamily="18" charset="0"/>
                <a:cs typeface="Times New Roman" panose="02020603050405020304" pitchFamily="18" charset="0"/>
              </a:rPr>
              <a:t> Market Rush</a:t>
            </a: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Primary Cognitive Targets:</a:t>
            </a:r>
          </a:p>
          <a:p>
            <a:pPr marL="0" indent="0">
              <a:buNone/>
            </a:pPr>
            <a:r>
              <a:rPr lang="en-IN" sz="7200" dirty="0">
                <a:latin typeface="Times New Roman" panose="02020603050405020304" pitchFamily="18" charset="0"/>
                <a:cs typeface="Times New Roman" panose="02020603050405020304" pitchFamily="18" charset="0"/>
              </a:rPr>
              <a:t>- Working memory (visual)- Processing speed- Selective attention- Mental manipulation (later stages)</a:t>
            </a:r>
          </a:p>
          <a:p>
            <a:pPr marL="0" indent="0">
              <a:buNone/>
            </a:pPr>
            <a:r>
              <a:rPr lang="en-IN" sz="7200" dirty="0">
                <a:latin typeface="Times New Roman" panose="02020603050405020304" pitchFamily="18" charset="0"/>
                <a:cs typeface="Times New Roman" panose="02020603050405020304" pitchFamily="18" charset="0"/>
              </a:rPr>
              <a:t>Task Description:</a:t>
            </a:r>
          </a:p>
          <a:p>
            <a:pPr marL="0" indent="0">
              <a:buNone/>
            </a:pPr>
            <a:r>
              <a:rPr lang="en-IN" sz="7200" dirty="0">
                <a:latin typeface="Times New Roman" panose="02020603050405020304" pitchFamily="18" charset="0"/>
                <a:cs typeface="Times New Roman" panose="02020603050405020304" pitchFamily="18" charset="0"/>
              </a:rPr>
              <a:t>A shopping list containing 3–7 everyday grocery items (e.g., “bread, milk, eggs, bananas, yogurt”) is displayed in the centre of the screen for exactly 4 seconds. After it disappears, the same items begin slowly floating downward from the top of the screen, mixed with 2–3× as many distractor items (e.g., soap, cereal, shampoo). The patient must tap only the original list items as quickly and accurately as possible before they drift off the bottom.</a:t>
            </a:r>
          </a:p>
          <a:p>
            <a:pPr marL="0" indent="0">
              <a:buNone/>
            </a:pPr>
            <a:r>
              <a:rPr lang="en-IN" sz="7200" dirty="0">
                <a:latin typeface="Times New Roman" panose="02020603050405020304" pitchFamily="18" charset="0"/>
                <a:cs typeface="Times New Roman" panose="02020603050405020304" pitchFamily="18" charset="0"/>
              </a:rPr>
              <a:t>Mechanics &amp; Visual Design:</a:t>
            </a:r>
          </a:p>
          <a:p>
            <a:pPr marL="0" indent="0">
              <a:buNone/>
            </a:pPr>
            <a:r>
              <a:rPr lang="en-IN" sz="7200" dirty="0">
                <a:latin typeface="Times New Roman" panose="02020603050405020304" pitchFamily="18" charset="0"/>
                <a:cs typeface="Times New Roman" panose="02020603050405020304" pitchFamily="18" charset="0"/>
              </a:rPr>
              <a:t>- Calm supermarket aisle background with soft music  </a:t>
            </a:r>
          </a:p>
          <a:p>
            <a:pPr marL="0" indent="0">
              <a:buNone/>
            </a:pPr>
            <a:r>
              <a:rPr lang="en-IN" sz="7200" dirty="0">
                <a:latin typeface="Times New Roman" panose="02020603050405020304" pitchFamily="18" charset="0"/>
                <a:cs typeface="Times New Roman" panose="02020603050405020304" pitchFamily="18" charset="0"/>
              </a:rPr>
              <a:t>- Items are realistic photos or clear icons  </a:t>
            </a:r>
          </a:p>
          <a:p>
            <a:pPr marL="0" indent="0">
              <a:buNone/>
            </a:pPr>
            <a:r>
              <a:rPr lang="en-IN" sz="7200" dirty="0">
                <a:latin typeface="Times New Roman" panose="02020603050405020304" pitchFamily="18" charset="0"/>
                <a:cs typeface="Times New Roman" panose="02020603050405020304" pitchFamily="18" charset="0"/>
              </a:rPr>
              <a:t>- Touching a correct item makes it “go into the cart” with a satisfying sound and +10 points  </a:t>
            </a:r>
          </a:p>
          <a:p>
            <a:pPr marL="0" indent="0">
              <a:buNone/>
            </a:pPr>
            <a:r>
              <a:rPr lang="en-IN" sz="7200" dirty="0">
                <a:latin typeface="Times New Roman" panose="02020603050405020304" pitchFamily="18" charset="0"/>
                <a:cs typeface="Times New Roman" panose="02020603050405020304" pitchFamily="18" charset="0"/>
              </a:rPr>
              <a:t>- Wrong tap = brief red flash and –5 points  </a:t>
            </a:r>
          </a:p>
          <a:p>
            <a:pPr marL="0" indent="0">
              <a:buNone/>
            </a:pPr>
            <a:r>
              <a:rPr lang="en-IN" sz="7200" dirty="0">
                <a:latin typeface="Times New Roman" panose="02020603050405020304" pitchFamily="18" charset="0"/>
                <a:cs typeface="Times New Roman" panose="02020603050405020304" pitchFamily="18" charset="0"/>
              </a:rPr>
              <a:t>Progression Levels (example):</a:t>
            </a:r>
          </a:p>
          <a:p>
            <a:pPr marL="0" indent="0">
              <a:buNone/>
            </a:pPr>
            <a:r>
              <a:rPr lang="en-IN" sz="7200" dirty="0">
                <a:latin typeface="Times New Roman" panose="02020603050405020304" pitchFamily="18" charset="0"/>
                <a:cs typeface="Times New Roman" panose="02020603050405020304" pitchFamily="18" charset="0"/>
              </a:rPr>
              <a:t>- Level 1–5: 3–4 items, 4 sec viewing, no extra rules  </a:t>
            </a:r>
          </a:p>
          <a:p>
            <a:pPr marL="0" indent="0">
              <a:buNone/>
            </a:pPr>
            <a:r>
              <a:rPr lang="en-IN" sz="7200" dirty="0">
                <a:latin typeface="Times New Roman" panose="02020603050405020304" pitchFamily="18" charset="0"/>
                <a:cs typeface="Times New Roman" panose="02020603050405020304" pitchFamily="18" charset="0"/>
              </a:rPr>
              <a:t>- Level 6–12: 5–6 items, viewing time drops to 3 → 2 sec  </a:t>
            </a:r>
          </a:p>
          <a:p>
            <a:pPr marL="0" indent="0">
              <a:buNone/>
            </a:pPr>
            <a:endParaRPr lang="en-IN" sz="72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9866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47EA5-C7EE-C37F-E1A9-6A0AB887918A}"/>
              </a:ext>
            </a:extLst>
          </p:cNvPr>
          <p:cNvSpPr>
            <a:spLocks noGrp="1"/>
          </p:cNvSpPr>
          <p:nvPr>
            <p:ph idx="1"/>
          </p:nvPr>
        </p:nvSpPr>
        <p:spPr>
          <a:xfrm>
            <a:off x="838200" y="365760"/>
            <a:ext cx="10856495" cy="6328003"/>
          </a:xfrm>
        </p:spPr>
        <p:txBody>
          <a:bodyPr>
            <a:normAutofit fontScale="47500" lnSpcReduction="20000"/>
          </a:bodyPr>
          <a:lstStyle/>
          <a:p>
            <a:pPr marL="0" indent="0">
              <a:buNone/>
            </a:pPr>
            <a:r>
              <a:rPr lang="en-IN" dirty="0"/>
              <a:t> </a:t>
            </a:r>
          </a:p>
          <a:p>
            <a:pPr marL="0" indent="0">
              <a:buNone/>
            </a:pPr>
            <a:r>
              <a:rPr lang="en-IN" sz="3800" dirty="0">
                <a:latin typeface="Times New Roman" panose="02020603050405020304" pitchFamily="18" charset="0"/>
                <a:cs typeface="Times New Roman" panose="02020603050405020304" pitchFamily="18" charset="0"/>
              </a:rPr>
              <a:t>2. </a:t>
            </a:r>
            <a:r>
              <a:rPr lang="en-IN" sz="3800" b="1" dirty="0">
                <a:latin typeface="Times New Roman" panose="02020603050405020304" pitchFamily="18" charset="0"/>
                <a:cs typeface="Times New Roman" panose="02020603050405020304" pitchFamily="18" charset="0"/>
              </a:rPr>
              <a:t>Speedy Current</a:t>
            </a:r>
            <a:r>
              <a:rPr lang="en-IN" sz="3800" dirty="0">
                <a:latin typeface="Times New Roman" panose="02020603050405020304" pitchFamily="18" charset="0"/>
                <a:cs typeface="Times New Roman" panose="02020603050405020304" pitchFamily="18" charset="0"/>
              </a:rPr>
              <a:t> </a:t>
            </a:r>
          </a:p>
          <a:p>
            <a:pPr marL="0" indent="0">
              <a:buNone/>
            </a:pPr>
            <a:r>
              <a:rPr lang="en-IN" sz="3800" dirty="0">
                <a:latin typeface="Times New Roman" panose="02020603050405020304" pitchFamily="18" charset="0"/>
                <a:cs typeface="Times New Roman" panose="02020603050405020304" pitchFamily="18" charset="0"/>
              </a:rPr>
              <a:t>Primary Targets:  </a:t>
            </a:r>
          </a:p>
          <a:p>
            <a:pPr marL="0" indent="0">
              <a:buNone/>
            </a:pPr>
            <a:r>
              <a:rPr lang="en-IN" sz="3800" dirty="0">
                <a:latin typeface="Times New Roman" panose="02020603050405020304" pitchFamily="18" charset="0"/>
                <a:cs typeface="Times New Roman" panose="02020603050405020304" pitchFamily="18" charset="0"/>
              </a:rPr>
              <a:t>- Processing speed</a:t>
            </a:r>
          </a:p>
          <a:p>
            <a:pPr marL="0" indent="0">
              <a:buNone/>
            </a:pPr>
            <a:r>
              <a:rPr lang="en-IN" sz="3800" dirty="0">
                <a:latin typeface="Times New Roman" panose="02020603050405020304" pitchFamily="18" charset="0"/>
                <a:cs typeface="Times New Roman" panose="02020603050405020304" pitchFamily="18" charset="0"/>
              </a:rPr>
              <a:t>  - Visual selective attention  </a:t>
            </a:r>
          </a:p>
          <a:p>
            <a:pPr marL="0" indent="0">
              <a:buNone/>
            </a:pPr>
            <a:r>
              <a:rPr lang="en-IN" sz="3800" dirty="0">
                <a:latin typeface="Times New Roman" panose="02020603050405020304" pitchFamily="18" charset="0"/>
                <a:cs typeface="Times New Roman" panose="02020603050405020304" pitchFamily="18" charset="0"/>
              </a:rPr>
              <a:t>- Response inhibition  </a:t>
            </a:r>
          </a:p>
          <a:p>
            <a:pPr marL="0" indent="0">
              <a:buNone/>
            </a:pPr>
            <a:r>
              <a:rPr lang="en-IN" sz="3800" dirty="0">
                <a:latin typeface="Times New Roman" panose="02020603050405020304" pitchFamily="18" charset="0"/>
                <a:cs typeface="Times New Roman" panose="02020603050405020304" pitchFamily="18" charset="0"/>
              </a:rPr>
              <a:t>- Visual search &amp; scanning  </a:t>
            </a:r>
          </a:p>
          <a:p>
            <a:pPr marL="0" indent="0">
              <a:buNone/>
            </a:pPr>
            <a:r>
              <a:rPr lang="en-IN" sz="3800" dirty="0">
                <a:latin typeface="Times New Roman" panose="02020603050405020304" pitchFamily="18" charset="0"/>
                <a:cs typeface="Times New Roman" panose="02020603050405020304" pitchFamily="18" charset="0"/>
              </a:rPr>
              <a:t>Task Description: A gentle river flows smoothly downward. Fish (targets) swim upward against the current, while leaves, bubbles, and logs drift downward with the flow. Patient taps only the upward-swimming fish before they exit the top of the screen.</a:t>
            </a:r>
          </a:p>
          <a:p>
            <a:pPr marL="0" indent="0">
              <a:buNone/>
            </a:pPr>
            <a:r>
              <a:rPr lang="en-IN" sz="3800" dirty="0">
                <a:latin typeface="Times New Roman" panose="02020603050405020304" pitchFamily="18" charset="0"/>
                <a:cs typeface="Times New Roman" panose="02020603050405020304" pitchFamily="18" charset="0"/>
              </a:rPr>
              <a:t>Mechanics:</a:t>
            </a:r>
          </a:p>
          <a:p>
            <a:pPr marL="0" indent="0">
              <a:buNone/>
            </a:pPr>
            <a:r>
              <a:rPr lang="en-IN" sz="3800" dirty="0">
                <a:latin typeface="Times New Roman" panose="02020603050405020304" pitchFamily="18" charset="0"/>
                <a:cs typeface="Times New Roman" panose="02020603050405020304" pitchFamily="18" charset="0"/>
              </a:rPr>
              <a:t>- Soothing water sounds and soft piano  </a:t>
            </a:r>
          </a:p>
          <a:p>
            <a:pPr marL="0" indent="0">
              <a:buNone/>
            </a:pPr>
            <a:r>
              <a:rPr lang="en-IN" sz="3800" dirty="0">
                <a:latin typeface="Times New Roman" panose="02020603050405020304" pitchFamily="18" charset="0"/>
                <a:cs typeface="Times New Roman" panose="02020603050405020304" pitchFamily="18" charset="0"/>
              </a:rPr>
              <a:t>- Fish are brightly coloured; distractors are muted brown/green  </a:t>
            </a:r>
          </a:p>
          <a:p>
            <a:pPr marL="0" indent="0">
              <a:buNone/>
            </a:pPr>
            <a:r>
              <a:rPr lang="en-IN" sz="3800" dirty="0">
                <a:latin typeface="Times New Roman" panose="02020603050405020304" pitchFamily="18" charset="0"/>
                <a:cs typeface="Times New Roman" panose="02020603050405020304" pitchFamily="18" charset="0"/>
              </a:rPr>
              <a:t>- Constant smooth vertical scrolling (no sudden jumps)  </a:t>
            </a:r>
          </a:p>
          <a:p>
            <a:pPr marL="0" indent="0">
              <a:buNone/>
            </a:pPr>
            <a:r>
              <a:rPr lang="en-IN" sz="3800" dirty="0">
                <a:latin typeface="Times New Roman" panose="02020603050405020304" pitchFamily="18" charset="0"/>
                <a:cs typeface="Times New Roman" panose="02020603050405020304" pitchFamily="18" charset="0"/>
              </a:rPr>
              <a:t>Progression &amp; Variations:</a:t>
            </a:r>
          </a:p>
          <a:p>
            <a:pPr marL="0" indent="0">
              <a:buNone/>
            </a:pPr>
            <a:r>
              <a:rPr lang="en-IN" sz="3800" dirty="0">
                <a:latin typeface="Times New Roman" panose="02020603050405020304" pitchFamily="18" charset="0"/>
                <a:cs typeface="Times New Roman" panose="02020603050405020304" pitchFamily="18" charset="0"/>
              </a:rPr>
              <a:t>- Early: Large, slow, high colour contrast  </a:t>
            </a:r>
          </a:p>
          <a:p>
            <a:pPr marL="0" indent="0">
              <a:buNone/>
            </a:pPr>
            <a:r>
              <a:rPr lang="en-IN" sz="3800" dirty="0">
                <a:latin typeface="Times New Roman" panose="02020603050405020304" pitchFamily="18" charset="0"/>
                <a:cs typeface="Times New Roman" panose="02020603050405020304" pitchFamily="18" charset="0"/>
              </a:rPr>
              <a:t>- Mid: Faster flow, smaller fish, more distractors  </a:t>
            </a:r>
          </a:p>
          <a:p>
            <a:pPr marL="0" indent="0">
              <a:buNone/>
            </a:pPr>
            <a:r>
              <a:rPr lang="en-IN" sz="3800" dirty="0">
                <a:latin typeface="Times New Roman" panose="02020603050405020304" pitchFamily="18" charset="0"/>
                <a:cs typeface="Times New Roman" panose="02020603050405020304" pitchFamily="18" charset="0"/>
              </a:rPr>
              <a:t>- Late: Occasional shark or predatory fish appears — must inhibit tapping (costs heavy points if tapped)  </a:t>
            </a:r>
          </a:p>
          <a:p>
            <a:pPr marL="0" indent="0">
              <a:buNone/>
            </a:pPr>
            <a:r>
              <a:rPr lang="en-IN" sz="3800" dirty="0">
                <a:latin typeface="Times New Roman" panose="02020603050405020304" pitchFamily="18" charset="0"/>
                <a:cs typeface="Times New Roman" panose="02020603050405020304" pitchFamily="18" charset="0"/>
              </a:rPr>
              <a:t>- Advanced: Fish briefly flash a number (1–9) or word (cat, dog, car…) → tap only odd numbers or only animals  </a:t>
            </a:r>
          </a:p>
          <a:p>
            <a:pPr marL="0" indent="0">
              <a:buNone/>
            </a:pPr>
            <a:endParaRPr lang="en-IN" sz="3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493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BB6ABB-0B2F-83EC-1764-7A25B0087772}"/>
              </a:ext>
            </a:extLst>
          </p:cNvPr>
          <p:cNvSpPr>
            <a:spLocks noGrp="1"/>
          </p:cNvSpPr>
          <p:nvPr>
            <p:ph idx="1"/>
          </p:nvPr>
        </p:nvSpPr>
        <p:spPr>
          <a:xfrm>
            <a:off x="904774" y="625642"/>
            <a:ext cx="11287225" cy="6112509"/>
          </a:xfrm>
        </p:spPr>
        <p:txBody>
          <a:bodyPr>
            <a:normAutofit fontScale="47500" lnSpcReduction="20000"/>
          </a:bodyPr>
          <a:lstStyle/>
          <a:p>
            <a:pPr marL="0" indent="0">
              <a:buNone/>
            </a:pPr>
            <a:r>
              <a:rPr lang="en-IN" dirty="0"/>
              <a:t> </a:t>
            </a:r>
            <a:r>
              <a:rPr lang="en-IN" sz="3400" dirty="0">
                <a:latin typeface="Times New Roman" panose="02020603050405020304" pitchFamily="18" charset="0"/>
                <a:cs typeface="Times New Roman" panose="02020603050405020304" pitchFamily="18" charset="0"/>
              </a:rPr>
              <a:t>3. </a:t>
            </a:r>
            <a:r>
              <a:rPr lang="en-IN" sz="3400" b="1" dirty="0">
                <a:latin typeface="Times New Roman" panose="02020603050405020304" pitchFamily="18" charset="0"/>
                <a:cs typeface="Times New Roman" panose="02020603050405020304" pitchFamily="18" charset="0"/>
              </a:rPr>
              <a:t>Blink Trail</a:t>
            </a:r>
            <a:endParaRPr lang="en-IN" sz="3400" dirty="0">
              <a:latin typeface="Times New Roman" panose="02020603050405020304" pitchFamily="18" charset="0"/>
              <a:cs typeface="Times New Roman" panose="02020603050405020304" pitchFamily="18" charset="0"/>
            </a:endParaRPr>
          </a:p>
          <a:p>
            <a:pPr marL="0" indent="0">
              <a:buNone/>
            </a:pPr>
            <a:r>
              <a:rPr lang="en-IN" sz="3400" dirty="0">
                <a:latin typeface="Times New Roman" panose="02020603050405020304" pitchFamily="18" charset="0"/>
                <a:cs typeface="Times New Roman" panose="02020603050405020304" pitchFamily="18" charset="0"/>
              </a:rPr>
              <a:t>Primary Targets:  </a:t>
            </a:r>
          </a:p>
          <a:p>
            <a:pPr marL="0" indent="0">
              <a:buNone/>
            </a:pPr>
            <a:r>
              <a:rPr lang="en-IN" sz="3400" dirty="0">
                <a:latin typeface="Times New Roman" panose="02020603050405020304" pitchFamily="18" charset="0"/>
                <a:cs typeface="Times New Roman" panose="02020603050405020304" pitchFamily="18" charset="0"/>
              </a:rPr>
              <a:t>- Visuospatial working memory  </a:t>
            </a:r>
          </a:p>
          <a:p>
            <a:pPr marL="0" indent="0">
              <a:buNone/>
            </a:pPr>
            <a:r>
              <a:rPr lang="en-IN" sz="3400" dirty="0">
                <a:latin typeface="Times New Roman" panose="02020603050405020304" pitchFamily="18" charset="0"/>
                <a:cs typeface="Times New Roman" panose="02020603050405020304" pitchFamily="18" charset="0"/>
              </a:rPr>
              <a:t>- Sequential memory  </a:t>
            </a:r>
          </a:p>
          <a:p>
            <a:pPr marL="0" indent="0">
              <a:buNone/>
            </a:pPr>
            <a:r>
              <a:rPr lang="en-IN" sz="3400" dirty="0">
                <a:latin typeface="Times New Roman" panose="02020603050405020304" pitchFamily="18" charset="0"/>
                <a:cs typeface="Times New Roman" panose="02020603050405020304" pitchFamily="18" charset="0"/>
              </a:rPr>
              <a:t>- Sustained attention  </a:t>
            </a:r>
          </a:p>
          <a:p>
            <a:pPr marL="0" indent="0">
              <a:buNone/>
            </a:pPr>
            <a:r>
              <a:rPr lang="en-IN" sz="3400" dirty="0">
                <a:latin typeface="Times New Roman" panose="02020603050405020304" pitchFamily="18" charset="0"/>
                <a:cs typeface="Times New Roman" panose="02020603050405020304" pitchFamily="18" charset="0"/>
              </a:rPr>
              <a:t>Task Description:</a:t>
            </a:r>
          </a:p>
          <a:p>
            <a:pPr marL="0" indent="0">
              <a:buNone/>
            </a:pPr>
            <a:r>
              <a:rPr lang="en-IN" sz="3400" dirty="0">
                <a:latin typeface="Times New Roman" panose="02020603050405020304" pitchFamily="18" charset="0"/>
                <a:cs typeface="Times New Roman" panose="02020603050405020304" pitchFamily="18" charset="0"/>
              </a:rPr>
              <a:t>On a grid (starts 3×3, up to 6×6), a sequence of dots lights up one by one in a specific order . After the last light, the screen goes blank for 1 second, then the empty grid reappears. Patient must tap the dots in the exact same order.</a:t>
            </a:r>
          </a:p>
          <a:p>
            <a:pPr marL="0" indent="0">
              <a:buNone/>
            </a:pPr>
            <a:r>
              <a:rPr lang="en-IN" sz="3400" dirty="0">
                <a:latin typeface="Times New Roman" panose="02020603050405020304" pitchFamily="18" charset="0"/>
                <a:cs typeface="Times New Roman" panose="02020603050405020304" pitchFamily="18" charset="0"/>
              </a:rPr>
              <a:t>Mechanics:</a:t>
            </a:r>
          </a:p>
          <a:p>
            <a:pPr marL="0" indent="0">
              <a:buNone/>
            </a:pPr>
            <a:r>
              <a:rPr lang="en-IN" sz="3400" dirty="0">
                <a:latin typeface="Times New Roman" panose="02020603050405020304" pitchFamily="18" charset="0"/>
                <a:cs typeface="Times New Roman" panose="02020603050405020304" pitchFamily="18" charset="0"/>
              </a:rPr>
              <a:t>- Pleasant chime for each correct step  </a:t>
            </a:r>
          </a:p>
          <a:p>
            <a:pPr marL="0" indent="0">
              <a:buNone/>
            </a:pPr>
            <a:r>
              <a:rPr lang="en-IN" sz="3400" dirty="0">
                <a:latin typeface="Times New Roman" panose="02020603050405020304" pitchFamily="18" charset="0"/>
                <a:cs typeface="Times New Roman" panose="02020603050405020304" pitchFamily="18" charset="0"/>
              </a:rPr>
              <a:t>- Entire sequence is briefly replayed if patient requests (limited replays per level)  </a:t>
            </a:r>
          </a:p>
          <a:p>
            <a:pPr marL="0" indent="0">
              <a:buNone/>
            </a:pPr>
            <a:r>
              <a:rPr lang="en-IN" sz="3400" dirty="0">
                <a:latin typeface="Times New Roman" panose="02020603050405020304" pitchFamily="18" charset="0"/>
                <a:cs typeface="Times New Roman" panose="02020603050405020304" pitchFamily="18" charset="0"/>
              </a:rPr>
              <a:t>Progression:</a:t>
            </a:r>
          </a:p>
          <a:p>
            <a:pPr marL="0" indent="0">
              <a:buNone/>
            </a:pPr>
            <a:r>
              <a:rPr lang="en-IN" sz="3400" dirty="0">
                <a:latin typeface="Times New Roman" panose="02020603050405020304" pitchFamily="18" charset="0"/>
                <a:cs typeface="Times New Roman" panose="02020603050405020304" pitchFamily="18" charset="0"/>
              </a:rPr>
              <a:t>- Length: 3 → 10 steps  </a:t>
            </a:r>
          </a:p>
          <a:p>
            <a:pPr marL="0" indent="0">
              <a:buNone/>
            </a:pPr>
            <a:r>
              <a:rPr lang="en-IN" sz="3400" dirty="0">
                <a:latin typeface="Times New Roman" panose="02020603050405020304" pitchFamily="18" charset="0"/>
                <a:cs typeface="Times New Roman" panose="02020603050405020304" pitchFamily="18" charset="0"/>
              </a:rPr>
              <a:t>- Grid size increases  </a:t>
            </a:r>
          </a:p>
          <a:p>
            <a:pPr marL="0" indent="0">
              <a:buNone/>
            </a:pPr>
            <a:r>
              <a:rPr lang="en-IN" sz="3400" dirty="0">
                <a:latin typeface="Times New Roman" panose="02020603050405020304" pitchFamily="18" charset="0"/>
                <a:cs typeface="Times New Roman" panose="02020603050405020304" pitchFamily="18" charset="0"/>
              </a:rPr>
              <a:t>- Flash duration shortens (800 </a:t>
            </a:r>
            <a:r>
              <a:rPr lang="en-IN" sz="3400" dirty="0" err="1">
                <a:latin typeface="Times New Roman" panose="02020603050405020304" pitchFamily="18" charset="0"/>
                <a:cs typeface="Times New Roman" panose="02020603050405020304" pitchFamily="18" charset="0"/>
              </a:rPr>
              <a:t>ms</a:t>
            </a:r>
            <a:r>
              <a:rPr lang="en-IN" sz="3400" dirty="0">
                <a:latin typeface="Times New Roman" panose="02020603050405020304" pitchFamily="18" charset="0"/>
                <a:cs typeface="Times New Roman" panose="02020603050405020304" pitchFamily="18" charset="0"/>
              </a:rPr>
              <a:t> → 300 </a:t>
            </a:r>
            <a:r>
              <a:rPr lang="en-IN" sz="3400" dirty="0" err="1">
                <a:latin typeface="Times New Roman" panose="02020603050405020304" pitchFamily="18" charset="0"/>
                <a:cs typeface="Times New Roman" panose="02020603050405020304" pitchFamily="18" charset="0"/>
              </a:rPr>
              <a:t>ms</a:t>
            </a:r>
            <a:r>
              <a:rPr lang="en-IN" sz="3400" dirty="0">
                <a:latin typeface="Times New Roman" panose="02020603050405020304" pitchFamily="18" charset="0"/>
                <a:cs typeface="Times New Roman" panose="02020603050405020304" pitchFamily="18" charset="0"/>
              </a:rPr>
              <a:t> per dot)  </a:t>
            </a:r>
          </a:p>
          <a:p>
            <a:pPr marL="0" indent="0">
              <a:buNone/>
            </a:pPr>
            <a:endParaRPr lang="en-IN" sz="3400" dirty="0">
              <a:latin typeface="Times New Roman" panose="02020603050405020304" pitchFamily="18" charset="0"/>
              <a:cs typeface="Times New Roman" panose="02020603050405020304" pitchFamily="18" charset="0"/>
            </a:endParaRPr>
          </a:p>
          <a:p>
            <a:pPr marL="0" indent="0">
              <a:buNone/>
            </a:pPr>
            <a:endParaRPr lang="en-IN" sz="3400" dirty="0">
              <a:latin typeface="Times New Roman" panose="02020603050405020304" pitchFamily="18" charset="0"/>
              <a:cs typeface="Times New Roman" panose="02020603050405020304" pitchFamily="18" charset="0"/>
            </a:endParaRPr>
          </a:p>
          <a:p>
            <a:pPr marL="0" indent="0">
              <a:buNone/>
            </a:pPr>
            <a:r>
              <a:rPr lang="en-IN" sz="3400" dirty="0">
                <a:latin typeface="Times New Roman" panose="02020603050405020304" pitchFamily="18" charset="0"/>
                <a:cs typeface="Times New Roman" panose="02020603050405020304" pitchFamily="18" charset="0"/>
              </a:rPr>
              <a:t> </a:t>
            </a:r>
          </a:p>
          <a:p>
            <a:pPr marL="0" indent="0">
              <a:buNone/>
            </a:pPr>
            <a:endParaRPr lang="en-IN" sz="3400" dirty="0">
              <a:latin typeface="Times New Roman" panose="02020603050405020304" pitchFamily="18" charset="0"/>
              <a:cs typeface="Times New Roman" panose="02020603050405020304" pitchFamily="18" charset="0"/>
            </a:endParaRPr>
          </a:p>
          <a:p>
            <a:pPr marL="0" indent="0">
              <a:buNone/>
            </a:pPr>
            <a:r>
              <a:rPr lang="en-IN" dirty="0"/>
              <a:t> </a:t>
            </a:r>
          </a:p>
          <a:p>
            <a:endParaRPr lang="en-IN" dirty="0"/>
          </a:p>
        </p:txBody>
      </p:sp>
    </p:spTree>
    <p:extLst>
      <p:ext uri="{BB962C8B-B14F-4D97-AF65-F5344CB8AC3E}">
        <p14:creationId xmlns:p14="http://schemas.microsoft.com/office/powerpoint/2010/main" val="1313302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47AB15-C13A-1333-6EE3-04C00D7439E8}"/>
              </a:ext>
            </a:extLst>
          </p:cNvPr>
          <p:cNvSpPr>
            <a:spLocks noGrp="1"/>
          </p:cNvSpPr>
          <p:nvPr>
            <p:ph idx="1"/>
          </p:nvPr>
        </p:nvSpPr>
        <p:spPr>
          <a:xfrm>
            <a:off x="838200" y="106532"/>
            <a:ext cx="10515600" cy="6070431"/>
          </a:xfrm>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 4. </a:t>
            </a:r>
            <a:r>
              <a:rPr lang="en-IN" b="1" dirty="0">
                <a:latin typeface="Times New Roman" panose="02020603050405020304" pitchFamily="18" charset="0"/>
                <a:cs typeface="Times New Roman" panose="02020603050405020304" pitchFamily="18" charset="0"/>
              </a:rPr>
              <a:t>Emotion Meadow</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Primary Targets:</a:t>
            </a:r>
          </a:p>
          <a:p>
            <a:pPr marL="0" indent="0">
              <a:buNone/>
            </a:pPr>
            <a:r>
              <a:rPr lang="en-IN" dirty="0">
                <a:latin typeface="Times New Roman" panose="02020603050405020304" pitchFamily="18" charset="0"/>
                <a:cs typeface="Times New Roman" panose="02020603050405020304" pitchFamily="18" charset="0"/>
              </a:rPr>
              <a:t>- Facial emotion recognition  </a:t>
            </a:r>
          </a:p>
          <a:p>
            <a:pPr marL="0" indent="0">
              <a:buNone/>
            </a:pPr>
            <a:r>
              <a:rPr lang="en-IN" dirty="0">
                <a:latin typeface="Times New Roman" panose="02020603050405020304" pitchFamily="18" charset="0"/>
                <a:cs typeface="Times New Roman" panose="02020603050405020304" pitchFamily="18" charset="0"/>
              </a:rPr>
              <a:t>- Social cognition </a:t>
            </a:r>
          </a:p>
          <a:p>
            <a:pPr marL="0" indent="0">
              <a:buNone/>
            </a:pPr>
            <a:r>
              <a:rPr lang="en-IN" dirty="0">
                <a:latin typeface="Times New Roman" panose="02020603050405020304" pitchFamily="18" charset="0"/>
                <a:cs typeface="Times New Roman" panose="02020603050405020304" pitchFamily="18" charset="0"/>
              </a:rPr>
              <a:t>- Emotional processing  </a:t>
            </a:r>
          </a:p>
          <a:p>
            <a:pPr marL="0" indent="0">
              <a:buNone/>
            </a:pPr>
            <a:r>
              <a:rPr lang="en-IN" dirty="0">
                <a:latin typeface="Times New Roman" panose="02020603050405020304" pitchFamily="18" charset="0"/>
                <a:cs typeface="Times New Roman" panose="02020603050405020304" pitchFamily="18" charset="0"/>
              </a:rPr>
              <a:t>- Facial mimicry (optional motor component)  </a:t>
            </a:r>
          </a:p>
          <a:p>
            <a:pPr marL="0" indent="0">
              <a:buNone/>
            </a:pPr>
            <a:r>
              <a:rPr lang="en-IN" dirty="0">
                <a:latin typeface="Times New Roman" panose="02020603050405020304" pitchFamily="18" charset="0"/>
                <a:cs typeface="Times New Roman" panose="02020603050405020304" pitchFamily="18" charset="0"/>
              </a:rPr>
              <a:t>Task Description:</a:t>
            </a:r>
          </a:p>
          <a:p>
            <a:pPr marL="0" indent="0">
              <a:buNone/>
            </a:pPr>
            <a:r>
              <a:rPr lang="en-IN" dirty="0">
                <a:latin typeface="Times New Roman" panose="02020603050405020304" pitchFamily="18" charset="0"/>
                <a:cs typeface="Times New Roman" panose="02020603050405020304" pitchFamily="18" charset="0"/>
              </a:rPr>
              <a:t>In a sunny meadow, 4–6 animals or cartoon/people appear with different facial expressions. A voice and text prompt says “Tap the worried rabbit” or “Who looks surprised?” Patient taps the correct one.</a:t>
            </a:r>
          </a:p>
          <a:p>
            <a:pPr marL="0" indent="0">
              <a:buNone/>
            </a:pPr>
            <a:r>
              <a:rPr lang="en-IN" dirty="0">
                <a:latin typeface="Times New Roman" panose="02020603050405020304" pitchFamily="18" charset="0"/>
                <a:cs typeface="Times New Roman" panose="02020603050405020304" pitchFamily="18" charset="0"/>
              </a:rPr>
              <a:t>Mechanics:</a:t>
            </a:r>
          </a:p>
          <a:p>
            <a:pPr marL="0" indent="0">
              <a:buNone/>
            </a:pPr>
            <a:r>
              <a:rPr lang="en-IN" dirty="0">
                <a:latin typeface="Times New Roman" panose="02020603050405020304" pitchFamily="18" charset="0"/>
                <a:cs typeface="Times New Roman" panose="02020603050405020304" pitchFamily="18" charset="0"/>
              </a:rPr>
              <a:t>- Expressions based on validated stimuli </a:t>
            </a:r>
          </a:p>
          <a:p>
            <a:pPr marL="0" indent="0">
              <a:buNone/>
            </a:pPr>
            <a:r>
              <a:rPr lang="en-IN" dirty="0">
                <a:latin typeface="Times New Roman" panose="02020603050405020304" pitchFamily="18" charset="0"/>
                <a:cs typeface="Times New Roman" panose="02020603050405020304" pitchFamily="18" charset="0"/>
              </a:rPr>
              <a:t>- Later levels use very subtle micro-expressions  </a:t>
            </a:r>
          </a:p>
          <a:p>
            <a:pPr marL="0" indent="0">
              <a:buNone/>
            </a:pPr>
            <a:r>
              <a:rPr lang="en-IN" dirty="0">
                <a:latin typeface="Times New Roman" panose="02020603050405020304" pitchFamily="18" charset="0"/>
                <a:cs typeface="Times New Roman" panose="02020603050405020304" pitchFamily="18" charset="0"/>
              </a:rPr>
              <a:t>- Faces hidden, only hear voice saying neutral sentence in happy/sad/angry tone  </a:t>
            </a:r>
          </a:p>
          <a:p>
            <a:pPr marL="0" indent="0">
              <a:buNone/>
            </a:pPr>
            <a:r>
              <a:rPr lang="en-IN" dirty="0">
                <a:latin typeface="Times New Roman" panose="02020603050405020304" pitchFamily="18" charset="0"/>
                <a:cs typeface="Times New Roman" panose="02020603050405020304" pitchFamily="18" charset="0"/>
              </a:rPr>
              <a:t>- “Mirror” bonus: front camera activates → patient imitates the target emotion for +20 points (trains facial feedback hypothesis and mirror neuron system)  </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1091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E71EB2-33F0-5E0D-BC11-045EC1624CCD}"/>
              </a:ext>
            </a:extLst>
          </p:cNvPr>
          <p:cNvSpPr>
            <a:spLocks noGrp="1"/>
          </p:cNvSpPr>
          <p:nvPr>
            <p:ph idx="1"/>
          </p:nvPr>
        </p:nvSpPr>
        <p:spPr>
          <a:xfrm>
            <a:off x="838199" y="257452"/>
            <a:ext cx="11244309" cy="6533965"/>
          </a:xfrm>
        </p:spPr>
        <p:txBody>
          <a:bodyPr>
            <a:normAutofit fontScale="85000" lnSpcReduction="20000"/>
          </a:bodyPr>
          <a:lstStyle/>
          <a:p>
            <a:pPr marL="0" indent="0">
              <a:buNone/>
            </a:pPr>
            <a:r>
              <a:rPr lang="en-IN" dirty="0">
                <a:latin typeface="Times New Roman" panose="02020603050405020304" pitchFamily="18" charset="0"/>
                <a:cs typeface="Times New Roman" panose="02020603050405020304" pitchFamily="18" charset="0"/>
              </a:rPr>
              <a:t> 6</a:t>
            </a:r>
            <a:r>
              <a:rPr lang="en-IN" b="1" dirty="0">
                <a:latin typeface="Times New Roman" panose="02020603050405020304" pitchFamily="18" charset="0"/>
                <a:cs typeface="Times New Roman" panose="02020603050405020304" pitchFamily="18" charset="0"/>
              </a:rPr>
              <a:t>. Path Finder</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Primary Targets:  </a:t>
            </a:r>
          </a:p>
          <a:p>
            <a:pPr marL="0" indent="0">
              <a:buNone/>
            </a:pPr>
            <a:r>
              <a:rPr lang="en-IN" dirty="0">
                <a:latin typeface="Times New Roman" panose="02020603050405020304" pitchFamily="18" charset="0"/>
                <a:cs typeface="Times New Roman" panose="02020603050405020304" pitchFamily="18" charset="0"/>
              </a:rPr>
              <a:t>- Planning &amp; forethought  </a:t>
            </a:r>
          </a:p>
          <a:p>
            <a:pPr marL="0" indent="0">
              <a:buNone/>
            </a:pPr>
            <a:r>
              <a:rPr lang="en-IN" dirty="0">
                <a:latin typeface="Times New Roman" panose="02020603050405020304" pitchFamily="18" charset="0"/>
                <a:cs typeface="Times New Roman" panose="02020603050405020304" pitchFamily="18" charset="0"/>
              </a:rPr>
              <a:t>- Problem solving  </a:t>
            </a:r>
          </a:p>
          <a:p>
            <a:pPr marL="0" indent="0">
              <a:buNone/>
            </a:pPr>
            <a:r>
              <a:rPr lang="en-IN" dirty="0">
                <a:latin typeface="Times New Roman" panose="02020603050405020304" pitchFamily="18" charset="0"/>
                <a:cs typeface="Times New Roman" panose="02020603050405020304" pitchFamily="18" charset="0"/>
              </a:rPr>
              <a:t>- Cognitive flexibility  </a:t>
            </a:r>
          </a:p>
          <a:p>
            <a:pPr marL="0" indent="0">
              <a:buNone/>
            </a:pPr>
            <a:r>
              <a:rPr lang="en-IN" dirty="0">
                <a:latin typeface="Times New Roman" panose="02020603050405020304" pitchFamily="18" charset="0"/>
                <a:cs typeface="Times New Roman" panose="02020603050405020304" pitchFamily="18" charset="0"/>
              </a:rPr>
              <a:t>- Visuospatial reasoning  </a:t>
            </a:r>
          </a:p>
          <a:p>
            <a:pPr marL="0" indent="0">
              <a:buNone/>
            </a:pPr>
            <a:r>
              <a:rPr lang="en-IN" dirty="0">
                <a:latin typeface="Times New Roman" panose="02020603050405020304" pitchFamily="18" charset="0"/>
                <a:cs typeface="Times New Roman" panose="02020603050405020304" pitchFamily="18" charset="0"/>
              </a:rPr>
              <a:t>Task Description:  </a:t>
            </a:r>
          </a:p>
          <a:p>
            <a:pPr marL="0" indent="0">
              <a:buNone/>
            </a:pPr>
            <a:r>
              <a:rPr lang="en-IN" dirty="0">
                <a:latin typeface="Times New Roman" panose="02020603050405020304" pitchFamily="18" charset="0"/>
                <a:cs typeface="Times New Roman" panose="02020603050405020304" pitchFamily="18" charset="0"/>
              </a:rPr>
              <a:t>Patient is shown a simple bird’s-eye town map with home and a destination (clinic, shop, park). They must drag-and-drop to draw the shortest or safest route while avoiding obstacles (roadworks, river, one-way streets).</a:t>
            </a:r>
          </a:p>
          <a:p>
            <a:pPr marL="0" indent="0">
              <a:buNone/>
            </a:pPr>
            <a:r>
              <a:rPr lang="en-IN" dirty="0">
                <a:latin typeface="Times New Roman" panose="02020603050405020304" pitchFamily="18" charset="0"/>
                <a:cs typeface="Times New Roman" panose="02020603050405020304" pitchFamily="18" charset="0"/>
              </a:rPr>
              <a:t>Mechanics:  </a:t>
            </a:r>
          </a:p>
          <a:p>
            <a:pPr marL="0" indent="0">
              <a:buNone/>
            </a:pPr>
            <a:r>
              <a:rPr lang="en-IN" dirty="0">
                <a:latin typeface="Times New Roman" panose="02020603050405020304" pitchFamily="18" charset="0"/>
                <a:cs typeface="Times New Roman" panose="02020603050405020304" pitchFamily="18" charset="0"/>
              </a:rPr>
              <a:t>- Finger-drawn path or tap-to-create waypoints  </a:t>
            </a:r>
          </a:p>
          <a:p>
            <a:pPr marL="0" indent="0">
              <a:buNone/>
            </a:pPr>
            <a:r>
              <a:rPr lang="en-IN" dirty="0">
                <a:latin typeface="Times New Roman" panose="02020603050405020304" pitchFamily="18" charset="0"/>
                <a:cs typeface="Times New Roman" panose="02020603050405020304" pitchFamily="18" charset="0"/>
              </a:rPr>
              <a:t>- Immediate feedback if path is blocked or too long  </a:t>
            </a:r>
          </a:p>
          <a:p>
            <a:pPr marL="0" indent="0">
              <a:buNone/>
            </a:pPr>
            <a:r>
              <a:rPr lang="en-IN" dirty="0">
                <a:latin typeface="Times New Roman" panose="02020603050405020304" pitchFamily="18" charset="0"/>
                <a:cs typeface="Times New Roman" panose="02020603050405020304" pitchFamily="18" charset="0"/>
              </a:rPr>
              <a:t>- Later levels add time constraints, traffic lights, or “you can only turn left twice” rules  </a:t>
            </a:r>
          </a:p>
          <a:p>
            <a:pPr marL="0" indent="0">
              <a:buNone/>
            </a:pPr>
            <a:r>
              <a:rPr lang="en-IN" dirty="0">
                <a:latin typeface="Times New Roman" panose="02020603050405020304" pitchFamily="18" charset="0"/>
                <a:cs typeface="Times New Roman" panose="02020603050405020304" pitchFamily="18" charset="0"/>
              </a:rPr>
              <a:t> Progression:</a:t>
            </a:r>
          </a:p>
          <a:p>
            <a:pPr marL="0" indent="0">
              <a:buNone/>
            </a:pPr>
            <a:r>
              <a:rPr lang="en-IN" dirty="0">
                <a:latin typeface="Times New Roman" panose="02020603050405020304" pitchFamily="18" charset="0"/>
                <a:cs typeface="Times New Roman" panose="02020603050405020304" pitchFamily="18" charset="0"/>
              </a:rPr>
              <a:t>- Simple grid → real-looking neighbourhood → multi-step errands (“go to pharmacy then post office then home”)  </a:t>
            </a: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1916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559EE-23AD-5F89-65E0-B3725BEAC23F}"/>
              </a:ext>
            </a:extLst>
          </p:cNvPr>
          <p:cNvSpPr>
            <a:spLocks noGrp="1"/>
          </p:cNvSpPr>
          <p:nvPr>
            <p:ph idx="1"/>
          </p:nvPr>
        </p:nvSpPr>
        <p:spPr>
          <a:xfrm>
            <a:off x="536358" y="541538"/>
            <a:ext cx="11655641" cy="5999410"/>
          </a:xfrm>
        </p:spPr>
        <p:txBody>
          <a:bodyPr>
            <a:normAutofit fontScale="55000" lnSpcReduction="20000"/>
          </a:bodyPr>
          <a:lstStyle/>
          <a:p>
            <a:pPr marL="0" indent="0">
              <a:buNone/>
            </a:pPr>
            <a:r>
              <a:rPr lang="en-IN" dirty="0"/>
              <a:t> </a:t>
            </a:r>
            <a:endParaRPr lang="en-IN" dirty="0">
              <a:latin typeface="Times New Roman" panose="02020603050405020304" pitchFamily="18" charset="0"/>
              <a:cs typeface="Times New Roman" panose="02020603050405020304" pitchFamily="18" charset="0"/>
            </a:endParaRPr>
          </a:p>
          <a:p>
            <a:pPr marL="0" indent="0">
              <a:buNone/>
            </a:pPr>
            <a:r>
              <a:rPr lang="en-IN" sz="3800" dirty="0">
                <a:latin typeface="Times New Roman" panose="02020603050405020304" pitchFamily="18" charset="0"/>
                <a:cs typeface="Times New Roman" panose="02020603050405020304" pitchFamily="18" charset="0"/>
              </a:rPr>
              <a:t> 5. </a:t>
            </a:r>
            <a:r>
              <a:rPr lang="en-IN" sz="3800" b="1" dirty="0">
                <a:latin typeface="Times New Roman" panose="02020603050405020304" pitchFamily="18" charset="0"/>
                <a:cs typeface="Times New Roman" panose="02020603050405020304" pitchFamily="18" charset="0"/>
              </a:rPr>
              <a:t>Sound Forest</a:t>
            </a:r>
            <a:endParaRPr lang="en-IN" sz="3800" dirty="0">
              <a:latin typeface="Times New Roman" panose="02020603050405020304" pitchFamily="18" charset="0"/>
              <a:cs typeface="Times New Roman" panose="02020603050405020304" pitchFamily="18" charset="0"/>
            </a:endParaRPr>
          </a:p>
          <a:p>
            <a:pPr marL="0" indent="0">
              <a:buNone/>
            </a:pPr>
            <a:r>
              <a:rPr lang="en-IN" sz="3800" dirty="0">
                <a:latin typeface="Times New Roman" panose="02020603050405020304" pitchFamily="18" charset="0"/>
                <a:cs typeface="Times New Roman" panose="02020603050405020304" pitchFamily="18" charset="0"/>
              </a:rPr>
              <a:t>Primary Targets:</a:t>
            </a:r>
          </a:p>
          <a:p>
            <a:pPr marL="0" indent="0">
              <a:buNone/>
            </a:pPr>
            <a:r>
              <a:rPr lang="en-IN" sz="3800" dirty="0">
                <a:latin typeface="Times New Roman" panose="02020603050405020304" pitchFamily="18" charset="0"/>
                <a:cs typeface="Times New Roman" panose="02020603050405020304" pitchFamily="18" charset="0"/>
              </a:rPr>
              <a:t>- Auditory attention &amp; discrimination  </a:t>
            </a:r>
          </a:p>
          <a:p>
            <a:pPr marL="0" indent="0">
              <a:buNone/>
            </a:pPr>
            <a:r>
              <a:rPr lang="en-IN" sz="3800" dirty="0">
                <a:latin typeface="Times New Roman" panose="02020603050405020304" pitchFamily="18" charset="0"/>
                <a:cs typeface="Times New Roman" panose="02020603050405020304" pitchFamily="18" charset="0"/>
              </a:rPr>
              <a:t>- Sound localization  </a:t>
            </a:r>
          </a:p>
          <a:p>
            <a:pPr marL="0" indent="0">
              <a:buNone/>
            </a:pPr>
            <a:r>
              <a:rPr lang="en-IN" sz="3800" dirty="0">
                <a:latin typeface="Times New Roman" panose="02020603050405020304" pitchFamily="18" charset="0"/>
                <a:cs typeface="Times New Roman" panose="02020603050405020304" pitchFamily="18" charset="0"/>
              </a:rPr>
              <a:t>- Auditory working memory  </a:t>
            </a:r>
          </a:p>
          <a:p>
            <a:pPr marL="0" indent="0">
              <a:buNone/>
            </a:pPr>
            <a:r>
              <a:rPr lang="en-IN" sz="3800" dirty="0">
                <a:latin typeface="Times New Roman" panose="02020603050405020304" pitchFamily="18" charset="0"/>
                <a:cs typeface="Times New Roman" panose="02020603050405020304" pitchFamily="18" charset="0"/>
              </a:rPr>
              <a:t>- Auditory figure-ground  </a:t>
            </a:r>
          </a:p>
          <a:p>
            <a:pPr marL="0" indent="0">
              <a:buNone/>
            </a:pPr>
            <a:r>
              <a:rPr lang="en-IN" sz="3800" dirty="0">
                <a:latin typeface="Times New Roman" panose="02020603050405020304" pitchFamily="18" charset="0"/>
                <a:cs typeface="Times New Roman" panose="02020603050405020304" pitchFamily="18" charset="0"/>
              </a:rPr>
              <a:t> </a:t>
            </a:r>
          </a:p>
          <a:p>
            <a:pPr marL="0" indent="0">
              <a:buNone/>
            </a:pPr>
            <a:r>
              <a:rPr lang="en-IN" sz="3800" dirty="0">
                <a:latin typeface="Times New Roman" panose="02020603050405020304" pitchFamily="18" charset="0"/>
                <a:cs typeface="Times New Roman" panose="02020603050405020304" pitchFamily="18" charset="0"/>
              </a:rPr>
              <a:t>Task Description:</a:t>
            </a:r>
          </a:p>
          <a:p>
            <a:pPr marL="0" indent="0">
              <a:buNone/>
            </a:pPr>
            <a:r>
              <a:rPr lang="en-IN" sz="3800" dirty="0">
                <a:latin typeface="Times New Roman" panose="02020603050405020304" pitchFamily="18" charset="0"/>
                <a:cs typeface="Times New Roman" panose="02020603050405020304" pitchFamily="18" charset="0"/>
              </a:rPr>
              <a:t>Patient “walks” along a forest path (auto-scrolls slowly). Animals and birds make sounds from left, right, or centre channels. Three rotating mini-games:</a:t>
            </a:r>
          </a:p>
          <a:p>
            <a:pPr marL="0" indent="0">
              <a:buNone/>
            </a:pPr>
            <a:r>
              <a:rPr lang="en-IN" sz="3800" dirty="0">
                <a:latin typeface="Times New Roman" panose="02020603050405020304" pitchFamily="18" charset="0"/>
                <a:cs typeface="Times New Roman" panose="02020603050405020304" pitchFamily="18" charset="0"/>
              </a:rPr>
              <a:t>1. Localization: Tap left or right side of screen matching where the sound came from  </a:t>
            </a:r>
          </a:p>
          <a:p>
            <a:pPr marL="0" indent="0">
              <a:buNone/>
            </a:pPr>
            <a:r>
              <a:rPr lang="en-IN" sz="3800" dirty="0">
                <a:latin typeface="Times New Roman" panose="02020603050405020304" pitchFamily="18" charset="0"/>
                <a:cs typeface="Times New Roman" panose="02020603050405020304" pitchFamily="18" charset="0"/>
              </a:rPr>
              <a:t>2. Selective attention: Tap only when you hear the target animal (e.g., only owl, ignore all others)  </a:t>
            </a:r>
          </a:p>
          <a:p>
            <a:pPr marL="0" indent="0">
              <a:buNone/>
            </a:pPr>
            <a:r>
              <a:rPr lang="en-IN" sz="3800" dirty="0">
                <a:latin typeface="Times New Roman" panose="02020603050405020304" pitchFamily="18" charset="0"/>
                <a:cs typeface="Times New Roman" panose="02020603050405020304" pitchFamily="18" charset="0"/>
              </a:rPr>
              <a:t>3. Auditory working memory: After 3–6 sounds, repeat the exact sequence by tapping animal icons  </a:t>
            </a:r>
          </a:p>
          <a:p>
            <a:pPr marL="0" indent="0">
              <a:buNone/>
            </a:pPr>
            <a:r>
              <a:rPr lang="en-IN" sz="3800" dirty="0">
                <a:latin typeface="Times New Roman" panose="02020603050405020304" pitchFamily="18" charset="0"/>
                <a:cs typeface="Times New Roman" panose="02020603050405020304" pitchFamily="18" charset="0"/>
              </a:rPr>
              <a:t>Progression:</a:t>
            </a:r>
          </a:p>
          <a:p>
            <a:pPr marL="0" indent="0">
              <a:buNone/>
            </a:pPr>
            <a:r>
              <a:rPr lang="en-IN" sz="3800" dirty="0">
                <a:latin typeface="Times New Roman" panose="02020603050405020304" pitchFamily="18" charset="0"/>
                <a:cs typeface="Times New Roman" panose="02020603050405020304" pitchFamily="18" charset="0"/>
              </a:rPr>
              <a:t>- Single clear sounds → overlapping sounds → background rain, wind, stream  </a:t>
            </a:r>
          </a:p>
          <a:p>
            <a:pPr marL="0" indent="0">
              <a:buNone/>
            </a:pPr>
            <a:r>
              <a:rPr lang="en-IN" sz="3800" dirty="0">
                <a:latin typeface="Times New Roman" panose="02020603050405020304" pitchFamily="18" charset="0"/>
                <a:cs typeface="Times New Roman" panose="02020603050405020304" pitchFamily="18" charset="0"/>
              </a:rPr>
              <a:t>- Faster presentation rates  </a:t>
            </a:r>
          </a:p>
          <a:p>
            <a:pPr marL="0" indent="0">
              <a:buNone/>
            </a:pPr>
            <a:endParaRPr lang="en-IN" sz="3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89089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6C8FE-CDA2-741C-E145-D148A5B4327D}"/>
              </a:ext>
            </a:extLst>
          </p:cNvPr>
          <p:cNvSpPr>
            <a:spLocks noGrp="1"/>
          </p:cNvSpPr>
          <p:nvPr>
            <p:ph idx="1"/>
          </p:nvPr>
        </p:nvSpPr>
        <p:spPr>
          <a:xfrm>
            <a:off x="838199" y="275208"/>
            <a:ext cx="11279819" cy="6676008"/>
          </a:xfrm>
        </p:spPr>
        <p:txBody>
          <a:bodyPr>
            <a:normAutofit fontScale="70000" lnSpcReduction="20000"/>
          </a:bodyPr>
          <a:lstStyle/>
          <a:p>
            <a:pPr marL="0" indent="0">
              <a:buNone/>
            </a:pPr>
            <a:r>
              <a:rPr lang="en-IN" sz="2900" dirty="0">
                <a:latin typeface="Times New Roman" panose="02020603050405020304" pitchFamily="18" charset="0"/>
                <a:cs typeface="Times New Roman" panose="02020603050405020304" pitchFamily="18" charset="0"/>
              </a:rPr>
              <a:t> 7. </a:t>
            </a:r>
            <a:r>
              <a:rPr lang="en-IN" sz="2900" b="1" dirty="0">
                <a:latin typeface="Times New Roman" panose="02020603050405020304" pitchFamily="18" charset="0"/>
                <a:cs typeface="Times New Roman" panose="02020603050405020304" pitchFamily="18" charset="0"/>
              </a:rPr>
              <a:t>Dual Task Flow</a:t>
            </a:r>
            <a:endParaRPr lang="en-IN" sz="2900" dirty="0">
              <a:latin typeface="Times New Roman" panose="02020603050405020304" pitchFamily="18" charset="0"/>
              <a:cs typeface="Times New Roman" panose="02020603050405020304" pitchFamily="18" charset="0"/>
            </a:endParaRPr>
          </a:p>
          <a:p>
            <a:pPr marL="0" indent="0">
              <a:buNone/>
            </a:pPr>
            <a:r>
              <a:rPr lang="en-IN" sz="2900" dirty="0">
                <a:latin typeface="Times New Roman" panose="02020603050405020304" pitchFamily="18" charset="0"/>
                <a:cs typeface="Times New Roman" panose="02020603050405020304" pitchFamily="18" charset="0"/>
              </a:rPr>
              <a:t>Primary Targets:  </a:t>
            </a:r>
          </a:p>
          <a:p>
            <a:pPr marL="0" indent="0">
              <a:buNone/>
            </a:pPr>
            <a:r>
              <a:rPr lang="en-IN" sz="2900" dirty="0">
                <a:latin typeface="Times New Roman" panose="02020603050405020304" pitchFamily="18" charset="0"/>
                <a:cs typeface="Times New Roman" panose="02020603050405020304" pitchFamily="18" charset="0"/>
              </a:rPr>
              <a:t>- Divided attention </a:t>
            </a:r>
          </a:p>
          <a:p>
            <a:pPr marL="0" indent="0">
              <a:buNone/>
            </a:pPr>
            <a:r>
              <a:rPr lang="en-IN" sz="2900" dirty="0">
                <a:latin typeface="Times New Roman" panose="02020603050405020304" pitchFamily="18" charset="0"/>
                <a:cs typeface="Times New Roman" panose="02020603050405020304" pitchFamily="18" charset="0"/>
              </a:rPr>
              <a:t>- Task switching  </a:t>
            </a:r>
          </a:p>
          <a:p>
            <a:pPr marL="0" indent="0">
              <a:buNone/>
            </a:pPr>
            <a:r>
              <a:rPr lang="en-IN" sz="2900" dirty="0">
                <a:latin typeface="Times New Roman" panose="02020603050405020304" pitchFamily="18" charset="0"/>
                <a:cs typeface="Times New Roman" panose="02020603050405020304" pitchFamily="18" charset="0"/>
              </a:rPr>
              <a:t>- Working memory under load  </a:t>
            </a:r>
          </a:p>
          <a:p>
            <a:pPr marL="0" indent="0">
              <a:buNone/>
            </a:pPr>
            <a:r>
              <a:rPr lang="en-IN" sz="2900" dirty="0">
                <a:latin typeface="Times New Roman" panose="02020603050405020304" pitchFamily="18" charset="0"/>
                <a:cs typeface="Times New Roman" panose="02020603050405020304" pitchFamily="18" charset="0"/>
              </a:rPr>
              <a:t>- Processing speed  </a:t>
            </a:r>
          </a:p>
          <a:p>
            <a:pPr marL="0" indent="0">
              <a:buNone/>
            </a:pPr>
            <a:r>
              <a:rPr lang="en-IN" sz="2900" dirty="0">
                <a:latin typeface="Times New Roman" panose="02020603050405020304" pitchFamily="18" charset="0"/>
                <a:cs typeface="Times New Roman" panose="02020603050405020304" pitchFamily="18" charset="0"/>
              </a:rPr>
              <a:t>Task Description:</a:t>
            </a:r>
          </a:p>
          <a:p>
            <a:pPr marL="0" indent="0">
              <a:buNone/>
            </a:pPr>
            <a:r>
              <a:rPr lang="en-IN" sz="2900" dirty="0">
                <a:latin typeface="Times New Roman" panose="02020603050405020304" pitchFamily="18" charset="0"/>
                <a:cs typeface="Times New Roman" panose="02020603050405020304" pitchFamily="18" charset="0"/>
              </a:rPr>
              <a:t>Two tasks run simultaneously:</a:t>
            </a:r>
          </a:p>
          <a:p>
            <a:pPr marL="0" indent="0">
              <a:buNone/>
            </a:pPr>
            <a:r>
              <a:rPr lang="en-IN" sz="2900" dirty="0">
                <a:latin typeface="Times New Roman" panose="02020603050405020304" pitchFamily="18" charset="0"/>
                <a:cs typeface="Times New Roman" panose="02020603050405020304" pitchFamily="18" charset="0"/>
              </a:rPr>
              <a:t>- Visual: Odd numbers (1–19) appear rapidly in the centre → tap only odd ones  </a:t>
            </a:r>
          </a:p>
          <a:p>
            <a:pPr marL="0" indent="0">
              <a:buNone/>
            </a:pPr>
            <a:r>
              <a:rPr lang="en-IN" sz="2900" dirty="0">
                <a:latin typeface="Times New Roman" panose="02020603050405020304" pitchFamily="18" charset="0"/>
                <a:cs typeface="Times New Roman" panose="02020603050405020304" pitchFamily="18" charset="0"/>
              </a:rPr>
              <a:t>- Auditory: A voice says random animals or words → tap a button only when it’s a target category (e.g., “tap when you hear a job” or “tap for living things”)</a:t>
            </a:r>
          </a:p>
          <a:p>
            <a:pPr marL="0" indent="0">
              <a:buNone/>
            </a:pPr>
            <a:r>
              <a:rPr lang="en-IN" sz="2900" dirty="0">
                <a:latin typeface="Times New Roman" panose="02020603050405020304" pitchFamily="18" charset="0"/>
                <a:cs typeface="Times New Roman" panose="02020603050405020304" pitchFamily="18" charset="0"/>
              </a:rPr>
              <a:t>Mechanics:  </a:t>
            </a:r>
          </a:p>
          <a:p>
            <a:pPr marL="0" indent="0">
              <a:buNone/>
            </a:pPr>
            <a:r>
              <a:rPr lang="en-IN" sz="2900" dirty="0">
                <a:latin typeface="Times New Roman" panose="02020603050405020304" pitchFamily="18" charset="0"/>
                <a:cs typeface="Times New Roman" panose="02020603050405020304" pitchFamily="18" charset="0"/>
              </a:rPr>
              <a:t>- Both streams are independent  </a:t>
            </a:r>
          </a:p>
          <a:p>
            <a:pPr marL="0" indent="0">
              <a:buNone/>
            </a:pPr>
            <a:r>
              <a:rPr lang="en-IN" sz="2900" dirty="0">
                <a:latin typeface="Times New Roman" panose="02020603050405020304" pitchFamily="18" charset="0"/>
                <a:cs typeface="Times New Roman" panose="02020603050405020304" pitchFamily="18" charset="0"/>
              </a:rPr>
              <a:t>- Points for speed and accuracy on both  </a:t>
            </a:r>
          </a:p>
          <a:p>
            <a:pPr marL="0" indent="0">
              <a:buNone/>
            </a:pPr>
            <a:r>
              <a:rPr lang="en-IN" sz="2900" dirty="0">
                <a:latin typeface="Times New Roman" panose="02020603050405020304" pitchFamily="18" charset="0"/>
                <a:cs typeface="Times New Roman" panose="02020603050405020304" pitchFamily="18" charset="0"/>
              </a:rPr>
              <a:t>- If patient ignores one stream too long, gentle reminder sound  </a:t>
            </a:r>
          </a:p>
          <a:p>
            <a:pPr marL="0" indent="0">
              <a:buNone/>
            </a:pPr>
            <a:r>
              <a:rPr lang="en-IN" sz="2900" dirty="0">
                <a:latin typeface="Times New Roman" panose="02020603050405020304" pitchFamily="18" charset="0"/>
                <a:cs typeface="Times New Roman" panose="02020603050405020304" pitchFamily="18" charset="0"/>
              </a:rPr>
              <a:t>Progression:  </a:t>
            </a:r>
          </a:p>
          <a:p>
            <a:pPr marL="0" indent="0">
              <a:buNone/>
            </a:pPr>
            <a:r>
              <a:rPr lang="en-IN" sz="2900" dirty="0">
                <a:latin typeface="Times New Roman" panose="02020603050405020304" pitchFamily="18" charset="0"/>
                <a:cs typeface="Times New Roman" panose="02020603050405020304" pitchFamily="18" charset="0"/>
              </a:rPr>
              <a:t>- Slow pace → very fast  </a:t>
            </a:r>
          </a:p>
          <a:p>
            <a:pPr marL="0" indent="0">
              <a:buNone/>
            </a:pPr>
            <a:r>
              <a:rPr lang="en-IN" sz="2900" dirty="0">
                <a:latin typeface="Times New Roman" panose="02020603050405020304" pitchFamily="18" charset="0"/>
                <a:cs typeface="Times New Roman" panose="02020603050405020304" pitchFamily="18" charset="0"/>
              </a:rPr>
              <a:t>- Numbers become similar (17 vs 71)  </a:t>
            </a:r>
          </a:p>
          <a:p>
            <a:pPr marL="0" indent="0">
              <a:buNone/>
            </a:pPr>
            <a:r>
              <a:rPr lang="en-IN" sz="2900" dirty="0">
                <a:latin typeface="Times New Roman" panose="02020603050405020304" pitchFamily="18" charset="0"/>
                <a:cs typeface="Times New Roman" panose="02020603050405020304" pitchFamily="18" charset="0"/>
              </a:rPr>
              <a:t>- Auditory stream adds background talkers (cocktail-party effect)  </a:t>
            </a:r>
          </a:p>
          <a:p>
            <a:pPr marL="0" indent="0">
              <a:buNone/>
            </a:pPr>
            <a:r>
              <a:rPr lang="en-IN" sz="2900" dirty="0">
                <a:latin typeface="Times New Roman" panose="02020603050405020304" pitchFamily="18" charset="0"/>
                <a:cs typeface="Times New Roman" panose="02020603050405020304" pitchFamily="18" charset="0"/>
              </a:rPr>
              <a:t>- Final levels: three simultaneous tasks (e.g., also maintain a running total of red items seen)  </a:t>
            </a:r>
          </a:p>
          <a:p>
            <a:pPr marL="0" indent="0">
              <a:buNone/>
            </a:pPr>
            <a:endParaRPr lang="en-IN" sz="29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37134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2309</Words>
  <Application>Microsoft Office PowerPoint</Application>
  <PresentationFormat>Widescreen</PresentationFormat>
  <Paragraphs>219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EFFECT OF APP-BASED GAMES IN IMPROVING COGNITION IN OLDAGE HAVING MILD COGNITIVE IMPAIRMENT</vt:lpstr>
      <vt:lpstr>INTRODUCTION </vt:lpstr>
      <vt:lpstr>PowerPoint Presentation</vt:lpstr>
      <vt:lpstr>PowerPoint Presentation</vt:lpstr>
      <vt:lpstr>PowerPoint Presentation</vt:lpstr>
      <vt:lpstr>REFERENCE ARTICLES</vt:lpstr>
      <vt:lpstr>QUESTIONNARE FOR ASSESSMENT</vt:lpstr>
      <vt:lpstr>PowerPoint Presentation</vt:lpstr>
      <vt:lpstr>PowerPoint Presentation</vt:lpstr>
      <vt:lpstr>PowerPoint Presentation</vt:lpstr>
      <vt:lpstr>PowerPoint Presentation</vt:lpstr>
      <vt:lpstr>GAMES BLUEPRINT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devanshirunthala@hotmail.com</dc:creator>
  <cp:lastModifiedBy>devanshirunthala@hotmail.com</cp:lastModifiedBy>
  <cp:revision>2</cp:revision>
  <dcterms:created xsi:type="dcterms:W3CDTF">2026-02-22T16:18:01Z</dcterms:created>
  <dcterms:modified xsi:type="dcterms:W3CDTF">2026-02-28T17:55:46Z</dcterms:modified>
</cp:coreProperties>
</file>